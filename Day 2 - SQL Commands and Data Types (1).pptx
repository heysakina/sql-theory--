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6" roundtripDataSignature="AMtx7mjxKUL2DXJe0AR7/LsSma9tnVXSy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14" Type="http://schemas.openxmlformats.org/officeDocument/2006/relationships/slide" Target="slides/slide10.xml"/><Relationship Id="rId36" Type="http://customschemas.google.com/relationships/presentationmetadata" Target="meta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3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3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3" name="Shape 23"/>
        <p:cNvGrpSpPr/>
        <p:nvPr/>
      </p:nvGrpSpPr>
      <p:grpSpPr>
        <a:xfrm>
          <a:off x="0" y="0"/>
          <a:ext cx="0" cy="0"/>
          <a:chOff x="0" y="0"/>
          <a:chExt cx="0" cy="0"/>
        </a:xfrm>
      </p:grpSpPr>
      <p:sp>
        <p:nvSpPr>
          <p:cNvPr id="24" name="Google Shape;24;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 name="Shape 32"/>
        <p:cNvGrpSpPr/>
        <p:nvPr/>
      </p:nvGrpSpPr>
      <p:grpSpPr>
        <a:xfrm>
          <a:off x="0" y="0"/>
          <a:ext cx="0" cy="0"/>
          <a:chOff x="0" y="0"/>
          <a:chExt cx="0" cy="0"/>
        </a:xfrm>
      </p:grpSpPr>
      <p:sp>
        <p:nvSpPr>
          <p:cNvPr id="33" name="Google Shape;33;p3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3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5" name="Google Shape;35;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3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3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 name="Shape 45"/>
        <p:cNvGrpSpPr/>
        <p:nvPr/>
      </p:nvGrpSpPr>
      <p:grpSpPr>
        <a:xfrm>
          <a:off x="0" y="0"/>
          <a:ext cx="0" cy="0"/>
          <a:chOff x="0" y="0"/>
          <a:chExt cx="0" cy="0"/>
        </a:xfrm>
      </p:grpSpPr>
      <p:sp>
        <p:nvSpPr>
          <p:cNvPr id="46" name="Google Shape;46;p3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3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8" name="Google Shape;48;p3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3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0" name="Google Shape;50;p3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4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4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4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4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41"/>
          <p:cNvSpPr/>
          <p:nvPr>
            <p:ph idx="2" type="pic"/>
          </p:nvPr>
        </p:nvSpPr>
        <p:spPr>
          <a:xfrm>
            <a:off x="5183188" y="987425"/>
            <a:ext cx="6172200" cy="4873625"/>
          </a:xfrm>
          <a:prstGeom prst="rect">
            <a:avLst/>
          </a:prstGeom>
          <a:noFill/>
          <a:ln>
            <a:noFill/>
          </a:ln>
        </p:spPr>
      </p:sp>
      <p:sp>
        <p:nvSpPr>
          <p:cNvPr id="64" name="Google Shape;64;p4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4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4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4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4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4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3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14.png"/><Relationship Id="rId5"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7.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6.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13.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3" name="Shape 83"/>
        <p:cNvGrpSpPr/>
        <p:nvPr/>
      </p:nvGrpSpPr>
      <p:grpSpPr>
        <a:xfrm>
          <a:off x="0" y="0"/>
          <a:ext cx="0" cy="0"/>
          <a:chOff x="0" y="0"/>
          <a:chExt cx="0" cy="0"/>
        </a:xfrm>
      </p:grpSpPr>
      <p:sp>
        <p:nvSpPr>
          <p:cNvPr id="84" name="Google Shape;84;p1"/>
          <p:cNvSpPr/>
          <p:nvPr/>
        </p:nvSpPr>
        <p:spPr>
          <a:xfrm>
            <a:off x="0" y="651752"/>
            <a:ext cx="12192000" cy="736551"/>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5" name="Google Shape;85;p1"/>
          <p:cNvSpPr txBox="1"/>
          <p:nvPr>
            <p:ph type="ctrTitle"/>
          </p:nvPr>
        </p:nvSpPr>
        <p:spPr>
          <a:xfrm>
            <a:off x="556532" y="643467"/>
            <a:ext cx="11210925" cy="74483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3200"/>
              <a:buFont typeface="Calibri"/>
              <a:buNone/>
            </a:pPr>
            <a:r>
              <a:rPr b="1" lang="en-US" sz="3200">
                <a:solidFill>
                  <a:schemeClr val="lt1"/>
                </a:solidFill>
                <a:latin typeface="Calibri"/>
                <a:ea typeface="Calibri"/>
                <a:cs typeface="Calibri"/>
                <a:sym typeface="Calibri"/>
              </a:rPr>
              <a:t>SQL Commands</a:t>
            </a:r>
            <a:endParaRPr/>
          </a:p>
        </p:txBody>
      </p:sp>
      <p:pic>
        <p:nvPicPr>
          <p:cNvPr descr="Database" id="86" name="Google Shape;86;p1"/>
          <p:cNvPicPr preferRelativeResize="0"/>
          <p:nvPr/>
        </p:nvPicPr>
        <p:blipFill rotWithShape="1">
          <a:blip r:embed="rId3">
            <a:alphaModFix/>
          </a:blip>
          <a:srcRect b="0" l="0" r="0" t="0"/>
          <a:stretch/>
        </p:blipFill>
        <p:spPr>
          <a:xfrm>
            <a:off x="3898900" y="1675227"/>
            <a:ext cx="4394199" cy="43941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0" name="Shape 90"/>
        <p:cNvGrpSpPr/>
        <p:nvPr/>
      </p:nvGrpSpPr>
      <p:grpSpPr>
        <a:xfrm>
          <a:off x="0" y="0"/>
          <a:ext cx="0" cy="0"/>
          <a:chOff x="0" y="0"/>
          <a:chExt cx="0" cy="0"/>
        </a:xfrm>
      </p:grpSpPr>
      <p:sp>
        <p:nvSpPr>
          <p:cNvPr id="91" name="Google Shape;91;p2"/>
          <p:cNvSpPr/>
          <p:nvPr/>
        </p:nvSpPr>
        <p:spPr>
          <a:xfrm>
            <a:off x="3048"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2" name="Google Shape;92;p2"/>
          <p:cNvSpPr/>
          <p:nvPr/>
        </p:nvSpPr>
        <p:spPr>
          <a:xfrm>
            <a:off x="1" y="0"/>
            <a:ext cx="4167271" cy="6858000"/>
          </a:xfrm>
          <a:custGeom>
            <a:rect b="b" l="l" r="r" t="t"/>
            <a:pathLst>
              <a:path extrusionOk="0" h="6858000" w="4167271">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3" name="Google Shape;93;p2"/>
          <p:cNvSpPr/>
          <p:nvPr/>
        </p:nvSpPr>
        <p:spPr>
          <a:xfrm flipH="1" rot="10800000">
            <a:off x="7550402" y="2455479"/>
            <a:ext cx="4083433" cy="4083433"/>
          </a:xfrm>
          <a:prstGeom prst="arc">
            <a:avLst>
              <a:gd fmla="val 16200000" name="adj1"/>
              <a:gd fmla="val 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4" name="Google Shape;94;p2"/>
          <p:cNvSpPr txBox="1"/>
          <p:nvPr>
            <p:ph idx="1" type="body"/>
          </p:nvPr>
        </p:nvSpPr>
        <p:spPr>
          <a:xfrm>
            <a:off x="4447308" y="591344"/>
            <a:ext cx="6906491" cy="5585619"/>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SQL Commands can be majorly classified in five categories.</a:t>
            </a:r>
            <a:endParaRPr/>
          </a:p>
          <a:p>
            <a:pPr indent="0" lvl="0" marL="0" rtl="0" algn="l">
              <a:lnSpc>
                <a:spcPct val="90000"/>
              </a:lnSpc>
              <a:spcBef>
                <a:spcPts val="1000"/>
              </a:spcBef>
              <a:spcAft>
                <a:spcPts val="0"/>
              </a:spcAft>
              <a:buClr>
                <a:schemeClr val="dk1"/>
              </a:buClr>
              <a:buSzPts val="2800"/>
              <a:buNone/>
            </a:pPr>
            <a:r>
              <a:t/>
            </a:r>
            <a:endParaRPr/>
          </a:p>
          <a:p>
            <a:pPr indent="-228600" lvl="1" marL="685800" rtl="0" algn="l">
              <a:lnSpc>
                <a:spcPct val="90000"/>
              </a:lnSpc>
              <a:spcBef>
                <a:spcPts val="500"/>
              </a:spcBef>
              <a:spcAft>
                <a:spcPts val="0"/>
              </a:spcAft>
              <a:buClr>
                <a:schemeClr val="dk1"/>
              </a:buClr>
              <a:buSzPts val="2400"/>
              <a:buChar char="•"/>
            </a:pPr>
            <a:r>
              <a:rPr lang="en-US"/>
              <a:t>1. DDL (Data Definition Language)</a:t>
            </a:r>
            <a:endParaRPr/>
          </a:p>
          <a:p>
            <a:pPr indent="0" lvl="1" marL="457200" rtl="0" algn="l">
              <a:lnSpc>
                <a:spcPct val="90000"/>
              </a:lnSpc>
              <a:spcBef>
                <a:spcPts val="500"/>
              </a:spcBef>
              <a:spcAft>
                <a:spcPts val="0"/>
              </a:spcAft>
              <a:buClr>
                <a:schemeClr val="dk1"/>
              </a:buClr>
              <a:buSzPts val="2400"/>
              <a:buNone/>
            </a:pPr>
            <a:r>
              <a:t/>
            </a:r>
            <a:endParaRPr/>
          </a:p>
          <a:p>
            <a:pPr indent="-228600" lvl="1" marL="685800" rtl="0" algn="l">
              <a:lnSpc>
                <a:spcPct val="90000"/>
              </a:lnSpc>
              <a:spcBef>
                <a:spcPts val="500"/>
              </a:spcBef>
              <a:spcAft>
                <a:spcPts val="0"/>
              </a:spcAft>
              <a:buClr>
                <a:schemeClr val="dk1"/>
              </a:buClr>
              <a:buSzPts val="2400"/>
              <a:buChar char="•"/>
            </a:pPr>
            <a:r>
              <a:rPr lang="en-US"/>
              <a:t>2. DML (Data Manipulation Language)</a:t>
            </a:r>
            <a:endParaRPr/>
          </a:p>
          <a:p>
            <a:pPr indent="0" lvl="1" marL="457200" rtl="0" algn="l">
              <a:lnSpc>
                <a:spcPct val="90000"/>
              </a:lnSpc>
              <a:spcBef>
                <a:spcPts val="500"/>
              </a:spcBef>
              <a:spcAft>
                <a:spcPts val="0"/>
              </a:spcAft>
              <a:buClr>
                <a:schemeClr val="dk1"/>
              </a:buClr>
              <a:buSzPts val="2400"/>
              <a:buNone/>
            </a:pPr>
            <a:r>
              <a:t/>
            </a:r>
            <a:endParaRPr/>
          </a:p>
          <a:p>
            <a:pPr indent="-228600" lvl="1" marL="685800" rtl="0" algn="l">
              <a:lnSpc>
                <a:spcPct val="90000"/>
              </a:lnSpc>
              <a:spcBef>
                <a:spcPts val="500"/>
              </a:spcBef>
              <a:spcAft>
                <a:spcPts val="0"/>
              </a:spcAft>
              <a:buClr>
                <a:schemeClr val="dk1"/>
              </a:buClr>
              <a:buSzPts val="2400"/>
              <a:buChar char="•"/>
            </a:pPr>
            <a:r>
              <a:rPr lang="en-US"/>
              <a:t>3. TCL (Transaction Control Language)</a:t>
            </a:r>
            <a:endParaRPr/>
          </a:p>
          <a:p>
            <a:pPr indent="0" lvl="1" marL="457200" rtl="0" algn="l">
              <a:lnSpc>
                <a:spcPct val="90000"/>
              </a:lnSpc>
              <a:spcBef>
                <a:spcPts val="500"/>
              </a:spcBef>
              <a:spcAft>
                <a:spcPts val="0"/>
              </a:spcAft>
              <a:buClr>
                <a:schemeClr val="dk1"/>
              </a:buClr>
              <a:buSzPts val="2400"/>
              <a:buNone/>
            </a:pPr>
            <a:r>
              <a:t/>
            </a:r>
            <a:endParaRPr/>
          </a:p>
          <a:p>
            <a:pPr indent="-228600" lvl="1" marL="685800" rtl="0" algn="l">
              <a:lnSpc>
                <a:spcPct val="90000"/>
              </a:lnSpc>
              <a:spcBef>
                <a:spcPts val="500"/>
              </a:spcBef>
              <a:spcAft>
                <a:spcPts val="0"/>
              </a:spcAft>
              <a:buClr>
                <a:schemeClr val="dk1"/>
              </a:buClr>
              <a:buSzPts val="2400"/>
              <a:buChar char="•"/>
            </a:pPr>
            <a:r>
              <a:rPr lang="en-US"/>
              <a:t>4. DCL (Data Control Language)</a:t>
            </a:r>
            <a:endParaRPr/>
          </a:p>
          <a:p>
            <a:pPr indent="0" lvl="1" marL="457200" rtl="0" algn="l">
              <a:lnSpc>
                <a:spcPct val="90000"/>
              </a:lnSpc>
              <a:spcBef>
                <a:spcPts val="500"/>
              </a:spcBef>
              <a:spcAft>
                <a:spcPts val="0"/>
              </a:spcAft>
              <a:buClr>
                <a:schemeClr val="dk1"/>
              </a:buClr>
              <a:buSzPts val="2400"/>
              <a:buNone/>
            </a:pPr>
            <a:r>
              <a:t/>
            </a:r>
            <a:endParaRPr/>
          </a:p>
          <a:p>
            <a:pPr indent="-228600" lvl="1" marL="685800" rtl="0" algn="l">
              <a:lnSpc>
                <a:spcPct val="90000"/>
              </a:lnSpc>
              <a:spcBef>
                <a:spcPts val="500"/>
              </a:spcBef>
              <a:spcAft>
                <a:spcPts val="0"/>
              </a:spcAft>
              <a:buClr>
                <a:schemeClr val="dk1"/>
              </a:buClr>
              <a:buSzPts val="2400"/>
              <a:buChar char="•"/>
            </a:pPr>
            <a:r>
              <a:rPr lang="en-US"/>
              <a:t>5. DQL (Data Query Language)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8" name="Shape 98"/>
        <p:cNvGrpSpPr/>
        <p:nvPr/>
      </p:nvGrpSpPr>
      <p:grpSpPr>
        <a:xfrm>
          <a:off x="0" y="0"/>
          <a:ext cx="0" cy="0"/>
          <a:chOff x="0" y="0"/>
          <a:chExt cx="0" cy="0"/>
        </a:xfrm>
      </p:grpSpPr>
      <p:sp>
        <p:nvSpPr>
          <p:cNvPr id="99" name="Google Shape;99;p3"/>
          <p:cNvSpPr/>
          <p:nvPr/>
        </p:nvSpPr>
        <p:spPr>
          <a:xfrm rot="-5400000">
            <a:off x="800100" y="1491343"/>
            <a:ext cx="3333749" cy="3499103"/>
          </a:xfrm>
          <a:prstGeom prst="downArrow">
            <a:avLst>
              <a:gd fmla="val 100000" name="adj1"/>
              <a:gd fmla="val 15788" name="adj2"/>
            </a:avLst>
          </a:prstGeom>
          <a:solidFill>
            <a:srgbClr val="4040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00" name="Google Shape;100;p3"/>
          <p:cNvPicPr preferRelativeResize="0"/>
          <p:nvPr/>
        </p:nvPicPr>
        <p:blipFill rotWithShape="1">
          <a:blip r:embed="rId3">
            <a:alphaModFix/>
          </a:blip>
          <a:srcRect b="0" l="0" r="0" t="0"/>
          <a:stretch/>
        </p:blipFill>
        <p:spPr>
          <a:xfrm>
            <a:off x="4777316" y="774887"/>
            <a:ext cx="6780700" cy="530589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4" name="Shape 104"/>
        <p:cNvGrpSpPr/>
        <p:nvPr/>
      </p:nvGrpSpPr>
      <p:grpSpPr>
        <a:xfrm>
          <a:off x="0" y="0"/>
          <a:ext cx="0" cy="0"/>
          <a:chOff x="0" y="0"/>
          <a:chExt cx="0" cy="0"/>
        </a:xfrm>
      </p:grpSpPr>
      <p:sp>
        <p:nvSpPr>
          <p:cNvPr id="105" name="Google Shape;105;p4"/>
          <p:cNvSpPr/>
          <p:nvPr/>
        </p:nvSpPr>
        <p:spPr>
          <a:xfrm>
            <a:off x="0" y="0"/>
            <a:ext cx="12192000" cy="68580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6" name="Google Shape;106;p4"/>
          <p:cNvSpPr txBox="1"/>
          <p:nvPr>
            <p:ph type="title"/>
          </p:nvPr>
        </p:nvSpPr>
        <p:spPr>
          <a:xfrm>
            <a:off x="838200" y="459863"/>
            <a:ext cx="10515600" cy="1004594"/>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4400"/>
              <a:buFont typeface="Calibri"/>
              <a:buNone/>
            </a:pPr>
            <a:r>
              <a:rPr lang="en-US">
                <a:solidFill>
                  <a:srgbClr val="FFFFFF"/>
                </a:solidFill>
              </a:rPr>
              <a:t>DDL – Data Definition Language</a:t>
            </a:r>
            <a:endParaRPr/>
          </a:p>
        </p:txBody>
      </p:sp>
      <p:sp>
        <p:nvSpPr>
          <p:cNvPr id="107" name="Google Shape;107;p4"/>
          <p:cNvSpPr/>
          <p:nvPr/>
        </p:nvSpPr>
        <p:spPr>
          <a:xfrm>
            <a:off x="579496" y="1587970"/>
            <a:ext cx="11033008" cy="4768380"/>
          </a:xfrm>
          <a:prstGeom prst="roundRect">
            <a:avLst>
              <a:gd fmla="val 3174" name="adj"/>
            </a:avLst>
          </a:prstGeom>
          <a:solidFill>
            <a:schemeClr val="lt1">
              <a:alpha val="94901"/>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nvGrpSpPr>
          <p:cNvPr id="108" name="Google Shape;108;p4"/>
          <p:cNvGrpSpPr/>
          <p:nvPr/>
        </p:nvGrpSpPr>
        <p:grpSpPr>
          <a:xfrm>
            <a:off x="838200" y="1801442"/>
            <a:ext cx="10515600" cy="4350274"/>
            <a:chOff x="0" y="531"/>
            <a:chExt cx="10515600" cy="4350274"/>
          </a:xfrm>
        </p:grpSpPr>
        <p:sp>
          <p:nvSpPr>
            <p:cNvPr id="109" name="Google Shape;109;p4"/>
            <p:cNvSpPr/>
            <p:nvPr/>
          </p:nvSpPr>
          <p:spPr>
            <a:xfrm>
              <a:off x="0" y="531"/>
              <a:ext cx="10515600" cy="1242935"/>
            </a:xfrm>
            <a:prstGeom prst="roundRect">
              <a:avLst>
                <a:gd fmla="val 100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4"/>
            <p:cNvSpPr/>
            <p:nvPr/>
          </p:nvSpPr>
          <p:spPr>
            <a:xfrm>
              <a:off x="375988" y="280191"/>
              <a:ext cx="683614" cy="683614"/>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4"/>
            <p:cNvSpPr/>
            <p:nvPr/>
          </p:nvSpPr>
          <p:spPr>
            <a:xfrm>
              <a:off x="1435590" y="531"/>
              <a:ext cx="9080009" cy="124293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4"/>
            <p:cNvSpPr txBox="1"/>
            <p:nvPr/>
          </p:nvSpPr>
          <p:spPr>
            <a:xfrm>
              <a:off x="1435590" y="531"/>
              <a:ext cx="9080009" cy="1242935"/>
            </a:xfrm>
            <a:prstGeom prst="rect">
              <a:avLst/>
            </a:prstGeom>
            <a:noFill/>
            <a:ln>
              <a:noFill/>
            </a:ln>
          </p:spPr>
          <p:txBody>
            <a:bodyPr anchorCtr="0" anchor="ctr" bIns="131525" lIns="131525" spcFirstLastPara="1" rIns="131525" wrap="square" tIns="131525">
              <a:noAutofit/>
            </a:bodyPr>
            <a:lstStyle/>
            <a:p>
              <a:pPr indent="0" lvl="0" marL="0" marR="0" rtl="0" algn="l">
                <a:lnSpc>
                  <a:spcPct val="90000"/>
                </a:lnSpc>
                <a:spcBef>
                  <a:spcPts val="0"/>
                </a:spcBef>
                <a:spcAft>
                  <a:spcPts val="0"/>
                </a:spcAft>
                <a:buClr>
                  <a:schemeClr val="dk1"/>
                </a:buClr>
                <a:buSzPts val="2400"/>
                <a:buFont typeface="Calibri"/>
                <a:buNone/>
              </a:pPr>
              <a:r>
                <a:rPr b="0" i="0" lang="en-US" sz="2400" u="none" cap="none" strike="noStrike">
                  <a:solidFill>
                    <a:schemeClr val="dk1"/>
                  </a:solidFill>
                  <a:latin typeface="Calibri"/>
                  <a:ea typeface="Calibri"/>
                  <a:cs typeface="Calibri"/>
                  <a:sym typeface="Calibri"/>
                </a:rPr>
                <a:t>Data Definition Language actually consists of the SQL commands that can be used to define the database schema.</a:t>
              </a:r>
              <a:endParaRPr b="0" i="0" sz="2400" u="none" cap="none" strike="noStrike">
                <a:solidFill>
                  <a:schemeClr val="dk1"/>
                </a:solidFill>
                <a:latin typeface="Calibri"/>
                <a:ea typeface="Calibri"/>
                <a:cs typeface="Calibri"/>
                <a:sym typeface="Calibri"/>
              </a:endParaRPr>
            </a:p>
          </p:txBody>
        </p:sp>
        <p:sp>
          <p:nvSpPr>
            <p:cNvPr id="113" name="Google Shape;113;p4"/>
            <p:cNvSpPr/>
            <p:nvPr/>
          </p:nvSpPr>
          <p:spPr>
            <a:xfrm>
              <a:off x="0" y="1554201"/>
              <a:ext cx="10515600" cy="1242935"/>
            </a:xfrm>
            <a:prstGeom prst="roundRect">
              <a:avLst>
                <a:gd fmla="val 1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4"/>
            <p:cNvSpPr/>
            <p:nvPr/>
          </p:nvSpPr>
          <p:spPr>
            <a:xfrm>
              <a:off x="375988" y="1833861"/>
              <a:ext cx="683614" cy="683614"/>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4"/>
            <p:cNvSpPr/>
            <p:nvPr/>
          </p:nvSpPr>
          <p:spPr>
            <a:xfrm>
              <a:off x="1435590" y="1554201"/>
              <a:ext cx="9080009" cy="124293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4"/>
            <p:cNvSpPr txBox="1"/>
            <p:nvPr/>
          </p:nvSpPr>
          <p:spPr>
            <a:xfrm>
              <a:off x="1435590" y="1554201"/>
              <a:ext cx="9080009" cy="1242935"/>
            </a:xfrm>
            <a:prstGeom prst="rect">
              <a:avLst/>
            </a:prstGeom>
            <a:noFill/>
            <a:ln>
              <a:noFill/>
            </a:ln>
          </p:spPr>
          <p:txBody>
            <a:bodyPr anchorCtr="0" anchor="ctr" bIns="131525" lIns="131525" spcFirstLastPara="1" rIns="131525" wrap="square" tIns="131525">
              <a:noAutofit/>
            </a:bodyPr>
            <a:lstStyle/>
            <a:p>
              <a:pPr indent="0" lvl="0" marL="0" marR="0" rtl="0" algn="l">
                <a:lnSpc>
                  <a:spcPct val="90000"/>
                </a:lnSpc>
                <a:spcBef>
                  <a:spcPts val="0"/>
                </a:spcBef>
                <a:spcAft>
                  <a:spcPts val="0"/>
                </a:spcAft>
                <a:buClr>
                  <a:schemeClr val="dk1"/>
                </a:buClr>
                <a:buSzPts val="2400"/>
                <a:buFont typeface="Calibri"/>
                <a:buNone/>
              </a:pPr>
              <a:r>
                <a:rPr b="0" i="0" lang="en-US" sz="2400" u="none" cap="none" strike="noStrike">
                  <a:solidFill>
                    <a:schemeClr val="dk1"/>
                  </a:solidFill>
                  <a:latin typeface="Calibri"/>
                  <a:ea typeface="Calibri"/>
                  <a:cs typeface="Calibri"/>
                  <a:sym typeface="Calibri"/>
                </a:rPr>
                <a:t>It simply deals with descriptions of the database schema and is used to create and modify the structure of database objects in the database.</a:t>
              </a:r>
              <a:endParaRPr b="0" i="0" sz="2400" u="none" cap="none" strike="noStrike">
                <a:solidFill>
                  <a:schemeClr val="dk1"/>
                </a:solidFill>
                <a:latin typeface="Calibri"/>
                <a:ea typeface="Calibri"/>
                <a:cs typeface="Calibri"/>
                <a:sym typeface="Calibri"/>
              </a:endParaRPr>
            </a:p>
          </p:txBody>
        </p:sp>
        <p:sp>
          <p:nvSpPr>
            <p:cNvPr id="117" name="Google Shape;117;p4"/>
            <p:cNvSpPr/>
            <p:nvPr/>
          </p:nvSpPr>
          <p:spPr>
            <a:xfrm>
              <a:off x="0" y="3107870"/>
              <a:ext cx="10515600" cy="1242935"/>
            </a:xfrm>
            <a:prstGeom prst="roundRect">
              <a:avLst>
                <a:gd fmla="val 10000" name="adj"/>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4"/>
            <p:cNvSpPr/>
            <p:nvPr/>
          </p:nvSpPr>
          <p:spPr>
            <a:xfrm>
              <a:off x="375988" y="3387531"/>
              <a:ext cx="683614" cy="683614"/>
            </a:xfrm>
            <a:prstGeom prst="rect">
              <a:avLst/>
            </a:prstGeom>
            <a:blipFill rotWithShape="1">
              <a:blip r:embed="rId5">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4"/>
            <p:cNvSpPr/>
            <p:nvPr/>
          </p:nvSpPr>
          <p:spPr>
            <a:xfrm>
              <a:off x="1435590" y="3107870"/>
              <a:ext cx="9080009" cy="124293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4"/>
            <p:cNvSpPr txBox="1"/>
            <p:nvPr/>
          </p:nvSpPr>
          <p:spPr>
            <a:xfrm>
              <a:off x="1435590" y="3107870"/>
              <a:ext cx="9080009" cy="1242935"/>
            </a:xfrm>
            <a:prstGeom prst="rect">
              <a:avLst/>
            </a:prstGeom>
            <a:noFill/>
            <a:ln>
              <a:noFill/>
            </a:ln>
          </p:spPr>
          <p:txBody>
            <a:bodyPr anchorCtr="0" anchor="ctr" bIns="131525" lIns="131525" spcFirstLastPara="1" rIns="131525" wrap="square" tIns="131525">
              <a:noAutofit/>
            </a:bodyPr>
            <a:lstStyle/>
            <a:p>
              <a:pPr indent="0" lvl="0" marL="0" marR="0" rtl="0" algn="l">
                <a:lnSpc>
                  <a:spcPct val="90000"/>
                </a:lnSpc>
                <a:spcBef>
                  <a:spcPts val="0"/>
                </a:spcBef>
                <a:spcAft>
                  <a:spcPts val="0"/>
                </a:spcAft>
                <a:buClr>
                  <a:schemeClr val="dk1"/>
                </a:buClr>
                <a:buSzPts val="2400"/>
                <a:buFont typeface="Calibri"/>
                <a:buNone/>
              </a:pPr>
              <a:r>
                <a:rPr b="0" i="0" lang="en-US" sz="2400" u="none" cap="none" strike="noStrike">
                  <a:solidFill>
                    <a:schemeClr val="dk1"/>
                  </a:solidFill>
                  <a:latin typeface="Calibri"/>
                  <a:ea typeface="Calibri"/>
                  <a:cs typeface="Calibri"/>
                  <a:sym typeface="Calibri"/>
                </a:rPr>
                <a:t>Let’s understand all the keywords in DDL.</a:t>
              </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4" name="Shape 124"/>
        <p:cNvGrpSpPr/>
        <p:nvPr/>
      </p:nvGrpSpPr>
      <p:grpSpPr>
        <a:xfrm>
          <a:off x="0" y="0"/>
          <a:ext cx="0" cy="0"/>
          <a:chOff x="0" y="0"/>
          <a:chExt cx="0" cy="0"/>
        </a:xfrm>
      </p:grpSpPr>
      <p:sp>
        <p:nvSpPr>
          <p:cNvPr id="125" name="Google Shape;125;p5"/>
          <p:cNvSpPr/>
          <p:nvPr/>
        </p:nvSpPr>
        <p:spPr>
          <a:xfrm>
            <a:off x="3048" y="4293"/>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6" name="Google Shape;126;p5"/>
          <p:cNvSpPr/>
          <p:nvPr/>
        </p:nvSpPr>
        <p:spPr>
          <a:xfrm>
            <a:off x="0" y="-4"/>
            <a:ext cx="4167268" cy="6858004"/>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7" name="Google Shape;127;p5"/>
          <p:cNvSpPr txBox="1"/>
          <p:nvPr>
            <p:ph type="title"/>
          </p:nvPr>
        </p:nvSpPr>
        <p:spPr>
          <a:xfrm>
            <a:off x="686834" y="591344"/>
            <a:ext cx="3200400" cy="558561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Calibri"/>
              <a:buNone/>
            </a:pPr>
            <a:r>
              <a:rPr lang="en-US">
                <a:solidFill>
                  <a:srgbClr val="FFFFFF"/>
                </a:solidFill>
              </a:rPr>
              <a:t>CREATE</a:t>
            </a:r>
            <a:endParaRPr/>
          </a:p>
        </p:txBody>
      </p:sp>
      <p:sp>
        <p:nvSpPr>
          <p:cNvPr id="128" name="Google Shape;128;p5"/>
          <p:cNvSpPr/>
          <p:nvPr/>
        </p:nvSpPr>
        <p:spPr>
          <a:xfrm flipH="1" rot="10800000">
            <a:off x="7550402" y="2455479"/>
            <a:ext cx="4083433" cy="4083433"/>
          </a:xfrm>
          <a:prstGeom prst="arc">
            <a:avLst>
              <a:gd fmla="val 16200000" name="adj1"/>
              <a:gd fmla="val 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9" name="Google Shape;129;p5"/>
          <p:cNvSpPr txBox="1"/>
          <p:nvPr>
            <p:ph idx="1" type="body"/>
          </p:nvPr>
        </p:nvSpPr>
        <p:spPr>
          <a:xfrm>
            <a:off x="4447308" y="591344"/>
            <a:ext cx="6906491" cy="5585619"/>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Create keyword can be used to create different database objects like tables, indexes, views etc. </a:t>
            </a:r>
            <a:endParaRPr/>
          </a:p>
          <a:p>
            <a:pPr indent="-228600" lvl="0" marL="228600" rtl="0" algn="l">
              <a:lnSpc>
                <a:spcPct val="90000"/>
              </a:lnSpc>
              <a:spcBef>
                <a:spcPts val="1000"/>
              </a:spcBef>
              <a:spcAft>
                <a:spcPts val="0"/>
              </a:spcAft>
              <a:buClr>
                <a:schemeClr val="dk1"/>
              </a:buClr>
              <a:buSzPts val="2800"/>
              <a:buChar char="•"/>
            </a:pPr>
            <a:r>
              <a:rPr lang="en-US"/>
              <a:t>A table in databases is used to store data in a tabular format i.e. in form of rows and columns. It is similar like spreadsheet. </a:t>
            </a:r>
            <a:endParaRPr/>
          </a:p>
          <a:p>
            <a:pPr indent="-228600" lvl="0" marL="228600" rtl="0" algn="l">
              <a:lnSpc>
                <a:spcPct val="90000"/>
              </a:lnSpc>
              <a:spcBef>
                <a:spcPts val="1000"/>
              </a:spcBef>
              <a:spcAft>
                <a:spcPts val="0"/>
              </a:spcAft>
              <a:buClr>
                <a:schemeClr val="dk1"/>
              </a:buClr>
              <a:buSzPts val="2800"/>
              <a:buChar char="•"/>
            </a:pPr>
            <a:r>
              <a:rPr lang="en-US"/>
              <a:t>A table creation command requires three things i.e. Name of Table, Name of fields (columns) in table, Data Type for each column.</a:t>
            </a:r>
            <a:endParaRPr/>
          </a:p>
          <a:p>
            <a:pPr indent="-228600" lvl="1" marL="685800" rtl="0" algn="l">
              <a:lnSpc>
                <a:spcPct val="90000"/>
              </a:lnSpc>
              <a:spcBef>
                <a:spcPts val="500"/>
              </a:spcBef>
              <a:spcAft>
                <a:spcPts val="0"/>
              </a:spcAft>
              <a:buClr>
                <a:schemeClr val="dk1"/>
              </a:buClr>
              <a:buSzPts val="2400"/>
              <a:buChar char="•"/>
            </a:pPr>
            <a:r>
              <a:rPr lang="en-US"/>
              <a:t>Syntax:</a:t>
            </a:r>
            <a:endParaRPr/>
          </a:p>
          <a:p>
            <a:pPr indent="-228600" lvl="2" marL="1143000" rtl="0" algn="l">
              <a:lnSpc>
                <a:spcPct val="90000"/>
              </a:lnSpc>
              <a:spcBef>
                <a:spcPts val="500"/>
              </a:spcBef>
              <a:spcAft>
                <a:spcPts val="0"/>
              </a:spcAft>
              <a:buClr>
                <a:schemeClr val="dk1"/>
              </a:buClr>
              <a:buSzPts val="2000"/>
              <a:buChar char="•"/>
            </a:pPr>
            <a:r>
              <a:rPr lang="en-US"/>
              <a:t>CREATE TABLE TABLE_NAME (</a:t>
            </a:r>
            <a:endParaRPr/>
          </a:p>
          <a:p>
            <a:pPr indent="0" lvl="3" marL="1371600" rtl="0" algn="l">
              <a:lnSpc>
                <a:spcPct val="90000"/>
              </a:lnSpc>
              <a:spcBef>
                <a:spcPts val="500"/>
              </a:spcBef>
              <a:spcAft>
                <a:spcPts val="0"/>
              </a:spcAft>
              <a:buClr>
                <a:schemeClr val="dk1"/>
              </a:buClr>
              <a:buSzPts val="1800"/>
              <a:buNone/>
            </a:pPr>
            <a:r>
              <a:rPr lang="en-US"/>
              <a:t>COLUMN1 DATATYPE,</a:t>
            </a:r>
            <a:endParaRPr/>
          </a:p>
          <a:p>
            <a:pPr indent="0" lvl="3" marL="1371600" rtl="0" algn="l">
              <a:lnSpc>
                <a:spcPct val="90000"/>
              </a:lnSpc>
              <a:spcBef>
                <a:spcPts val="500"/>
              </a:spcBef>
              <a:spcAft>
                <a:spcPts val="0"/>
              </a:spcAft>
              <a:buClr>
                <a:schemeClr val="dk1"/>
              </a:buClr>
              <a:buSzPts val="1800"/>
              <a:buNone/>
            </a:pPr>
            <a:r>
              <a:rPr lang="en-US"/>
              <a:t>COLUMN2 DATATYPE);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6"/>
          <p:cNvSpPr txBox="1"/>
          <p:nvPr/>
        </p:nvSpPr>
        <p:spPr>
          <a:xfrm>
            <a:off x="287215" y="211015"/>
            <a:ext cx="11617500" cy="59106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3600" u="sng" cap="none" strike="noStrike">
                <a:solidFill>
                  <a:srgbClr val="002060"/>
                </a:solidFill>
                <a:latin typeface="Angsana New"/>
                <a:ea typeface="Angsana New"/>
                <a:cs typeface="Angsana New"/>
                <a:sym typeface="Angsana New"/>
              </a:rPr>
              <a:t>ALTER(Adding column to a table)</a:t>
            </a:r>
            <a:endParaRPr/>
          </a:p>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1800"/>
              <a:buFont typeface="Calibri"/>
              <a:buAutoNum type="arabicPeriod"/>
            </a:pPr>
            <a:r>
              <a:rPr b="0" i="0" lang="en-US" sz="1800" u="none" cap="none" strike="noStrike">
                <a:solidFill>
                  <a:schemeClr val="dk1"/>
                </a:solidFill>
                <a:latin typeface="Calibri"/>
                <a:ea typeface="Calibri"/>
                <a:cs typeface="Calibri"/>
                <a:sym typeface="Calibri"/>
              </a:rPr>
              <a:t>Alter command goes in combination with add, rename, modify and drop. We will look at the add scenarios first.</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2. Suppose, you want to add a column or multiple columns to an existing table, delete a column or multiple columns in a              existing table, rename a column or multiple columns in an existing table.</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e.g. Let’s suppose you have students table and you want to add a column age in that table so you can use the below syntax</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r>
              <a:rPr lang="en-US" sz="1800">
                <a:solidFill>
                  <a:schemeClr val="dk1"/>
                </a:solidFill>
                <a:highlight>
                  <a:srgbClr val="FFFF00"/>
                </a:highlight>
                <a:latin typeface="Calibri"/>
                <a:ea typeface="Calibri"/>
                <a:cs typeface="Calibri"/>
                <a:sym typeface="Calibri"/>
              </a:rPr>
              <a:t>Alter table table_name add column column_name datatype;</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Alter table students add column age int unsigned;</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Now, let’s suppose you want to add height, weight and scores in the same table so you can use the below syntax.</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r>
              <a:rPr lang="en-US" sz="1800">
                <a:solidFill>
                  <a:schemeClr val="dk1"/>
                </a:solidFill>
                <a:highlight>
                  <a:srgbClr val="FFFF00"/>
                </a:highlight>
                <a:latin typeface="Calibri"/>
                <a:ea typeface="Calibri"/>
                <a:cs typeface="Calibri"/>
                <a:sym typeface="Calibri"/>
              </a:rPr>
              <a:t>Alter table table_name add column column_name datatype, add column column_name datatype..</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Alter table students add column height decimal (5,1), add column weight decimal (5,2), add column score int unsigned; </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highlight>
                  <a:srgbClr val="FFFF00"/>
                </a:highlight>
                <a:latin typeface="Calibri"/>
                <a:ea typeface="Calibri"/>
                <a:cs typeface="Calibri"/>
                <a:sym typeface="Calibri"/>
              </a:rPr>
              <a:t>DO NOT WORRY WE WILL BE DISCUSSING DATATYPES IN THE FURTHER SESSIONS.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7"/>
          <p:cNvSpPr txBox="1"/>
          <p:nvPr/>
        </p:nvSpPr>
        <p:spPr>
          <a:xfrm>
            <a:off x="246185" y="140677"/>
            <a:ext cx="11863753" cy="53553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3. Adding columns in the above manner will add the column at the end of the table. </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4. If in case you want to add the column at a specific position you can use the below syntax:</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r>
              <a:rPr lang="en-US" sz="1800">
                <a:solidFill>
                  <a:schemeClr val="dk1"/>
                </a:solidFill>
                <a:highlight>
                  <a:srgbClr val="FFFF00"/>
                </a:highlight>
                <a:latin typeface="Calibri"/>
                <a:ea typeface="Calibri"/>
                <a:cs typeface="Calibri"/>
                <a:sym typeface="Calibri"/>
              </a:rPr>
              <a:t>Alter table table_name add column column_name data type after column_name;</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e.g. You want to add a column as Date of Birth next to the age column in the students table so the syntax will be</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Alter table students add column date_of_birth date after age;</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highlight>
                  <a:srgbClr val="FFFF00"/>
                </a:highlight>
                <a:latin typeface="Calibri"/>
                <a:ea typeface="Calibri"/>
                <a:cs typeface="Calibri"/>
                <a:sym typeface="Calibri"/>
              </a:rPr>
              <a:t>NOTE: There is nothing called as before however, if you would like to add a column at the beginning it means that it should be the first column in your table you can use the below syntax:</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r>
              <a:rPr lang="en-US" sz="1800">
                <a:solidFill>
                  <a:schemeClr val="dk1"/>
                </a:solidFill>
                <a:highlight>
                  <a:srgbClr val="FFFF00"/>
                </a:highlight>
                <a:latin typeface="Calibri"/>
                <a:ea typeface="Calibri"/>
                <a:cs typeface="Calibri"/>
                <a:sym typeface="Calibri"/>
              </a:rPr>
              <a:t>Alter table table_name add column column_name datatype first;</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e.g. Let’s supposed you want to add a new column student_id and that should be the first column in your table you can use the below syntax:</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Alter table students add column student_id int unsigned first;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8"/>
          <p:cNvSpPr txBox="1"/>
          <p:nvPr/>
        </p:nvSpPr>
        <p:spPr>
          <a:xfrm>
            <a:off x="410308" y="269630"/>
            <a:ext cx="11523784" cy="563231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600" u="sng">
                <a:solidFill>
                  <a:srgbClr val="002060"/>
                </a:solidFill>
                <a:latin typeface="Angsana New"/>
                <a:ea typeface="Angsana New"/>
                <a:cs typeface="Angsana New"/>
                <a:sym typeface="Angsana New"/>
              </a:rPr>
              <a:t>ALTER(Renaming a column in a table)</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You can use the rename along with the ALTER keyword whenever you would like to rename a column</a:t>
            </a:r>
            <a:endParaRPr/>
          </a:p>
          <a:p>
            <a:pPr indent="-228600" lvl="0" marL="34290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In the last slide you added a column named as student_id at the first position in the table. Let’s suppose you want to rename this column just to ID, so you can use the below syntax:</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r>
              <a:rPr lang="en-US" sz="1800">
                <a:solidFill>
                  <a:schemeClr val="dk1"/>
                </a:solidFill>
                <a:highlight>
                  <a:srgbClr val="FFFF00"/>
                </a:highlight>
                <a:latin typeface="Calibri"/>
                <a:ea typeface="Calibri"/>
                <a:cs typeface="Calibri"/>
                <a:sym typeface="Calibri"/>
              </a:rPr>
              <a:t>Alter table table_name rename column old_ column_name to new_column_name;</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Alter table students rename column student_id to id;</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3. If in case you want to rename multiple columns in one single query. Suppose you want to change the height, weight and score column names to something the columns that we added in the last slide.</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r>
              <a:rPr lang="en-US" sz="1800">
                <a:solidFill>
                  <a:schemeClr val="dk1"/>
                </a:solidFill>
                <a:highlight>
                  <a:srgbClr val="FFFF00"/>
                </a:highlight>
                <a:latin typeface="Calibri"/>
                <a:ea typeface="Calibri"/>
                <a:cs typeface="Calibri"/>
                <a:sym typeface="Calibri"/>
              </a:rPr>
              <a:t>Alter table table_name rename old_column_name to new_column_name, rename old_column_name to new_</a:t>
            </a:r>
            <a:r>
              <a:rPr lang="en-US" sz="1800">
                <a:solidFill>
                  <a:schemeClr val="dk1"/>
                </a:solidFill>
                <a:latin typeface="Calibri"/>
                <a:ea typeface="Calibri"/>
                <a:cs typeface="Calibri"/>
                <a:sym typeface="Calibri"/>
              </a:rPr>
              <a:t>	</a:t>
            </a:r>
            <a:r>
              <a:rPr lang="en-US" sz="1800">
                <a:solidFill>
                  <a:schemeClr val="dk1"/>
                </a:solidFill>
                <a:highlight>
                  <a:srgbClr val="FFFF00"/>
                </a:highlight>
                <a:latin typeface="Calibri"/>
                <a:ea typeface="Calibri"/>
                <a:cs typeface="Calibri"/>
                <a:sym typeface="Calibri"/>
              </a:rPr>
              <a:t>column_name;</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Alter table students rename column height to Tall, rename column weight to heavy, rename column score to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points.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9"/>
          <p:cNvSpPr txBox="1"/>
          <p:nvPr/>
        </p:nvSpPr>
        <p:spPr>
          <a:xfrm>
            <a:off x="363415" y="222738"/>
            <a:ext cx="11676185" cy="674030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600" u="sng">
                <a:solidFill>
                  <a:srgbClr val="002060"/>
                </a:solidFill>
                <a:latin typeface="Angsana New"/>
                <a:ea typeface="Angsana New"/>
                <a:cs typeface="Angsana New"/>
                <a:sym typeface="Angsana New"/>
              </a:rPr>
              <a:t>ALTER(Modifying column properties)</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Modify keyword is also used along with the ALTER statement and it is useful for changing the data type of the column (logically if it is possible) or increasing the space or size of a column.</a:t>
            </a:r>
            <a:endParaRPr/>
          </a:p>
          <a:p>
            <a:pPr indent="-228600" lvl="0" marL="34290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Consider the below example there is a column named a student_id and it was stored in text in the students table and now we want to convert the same in the integer format.</a:t>
            </a:r>
            <a:endParaRPr/>
          </a:p>
          <a:p>
            <a:pPr indent="-228600" lvl="0" marL="34290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6" marL="2743200" marR="0" rtl="0" algn="l">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You, can use the below syntax for the same.</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r>
              <a:rPr lang="en-US" sz="1800">
                <a:solidFill>
                  <a:schemeClr val="dk1"/>
                </a:solidFill>
                <a:highlight>
                  <a:srgbClr val="FFFF00"/>
                </a:highlight>
                <a:latin typeface="Calibri"/>
                <a:ea typeface="Calibri"/>
                <a:cs typeface="Calibri"/>
                <a:sym typeface="Calibri"/>
              </a:rPr>
              <a:t>Alter table table_name modify column column_name datatype;</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Alter table students modify column student_id int unsigned;</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2" marL="914400" marR="0" rtl="0" algn="l">
              <a:spcBef>
                <a:spcPts val="0"/>
              </a:spcBef>
              <a:spcAft>
                <a:spcPts val="0"/>
              </a:spcAft>
              <a:buNone/>
            </a:pPr>
            <a:r>
              <a:rPr b="0" i="0" lang="en-US" sz="1800" u="none" cap="none" strike="noStrike">
                <a:solidFill>
                  <a:schemeClr val="dk1"/>
                </a:solidFill>
                <a:highlight>
                  <a:srgbClr val="FFFF00"/>
                </a:highlight>
                <a:latin typeface="Calibri"/>
                <a:ea typeface="Calibri"/>
                <a:cs typeface="Calibri"/>
                <a:sym typeface="Calibri"/>
              </a:rPr>
              <a:t>Alter table table_name modify column column_name varchar(30)</a:t>
            </a:r>
            <a:endParaRPr/>
          </a:p>
        </p:txBody>
      </p:sp>
      <p:pic>
        <p:nvPicPr>
          <p:cNvPr id="150" name="Google Shape;150;p9"/>
          <p:cNvPicPr preferRelativeResize="0"/>
          <p:nvPr/>
        </p:nvPicPr>
        <p:blipFill rotWithShape="1">
          <a:blip r:embed="rId3">
            <a:alphaModFix/>
          </a:blip>
          <a:srcRect b="0" l="0" r="0" t="0"/>
          <a:stretch/>
        </p:blipFill>
        <p:spPr>
          <a:xfrm>
            <a:off x="5219700" y="2567354"/>
            <a:ext cx="1752600" cy="2017346"/>
          </a:xfrm>
          <a:prstGeom prst="rect">
            <a:avLst/>
          </a:prstGeom>
          <a:noFill/>
          <a:ln>
            <a:noFill/>
          </a:ln>
        </p:spPr>
      </p:pic>
      <p:cxnSp>
        <p:nvCxnSpPr>
          <p:cNvPr id="151" name="Google Shape;151;p9"/>
          <p:cNvCxnSpPr/>
          <p:nvPr/>
        </p:nvCxnSpPr>
        <p:spPr>
          <a:xfrm flipH="1" rot="10800000">
            <a:off x="7467600" y="4876800"/>
            <a:ext cx="1137138" cy="1805354"/>
          </a:xfrm>
          <a:prstGeom prst="straightConnector1">
            <a:avLst/>
          </a:prstGeom>
          <a:noFill/>
          <a:ln cap="flat" cmpd="sng" w="9525">
            <a:solidFill>
              <a:schemeClr val="accent1"/>
            </a:solidFill>
            <a:prstDash val="solid"/>
            <a:miter lim="800000"/>
            <a:headEnd len="sm" w="sm" type="none"/>
            <a:tailEnd len="med" w="med" type="triangle"/>
          </a:ln>
        </p:spPr>
      </p:cxnSp>
      <p:sp>
        <p:nvSpPr>
          <p:cNvPr id="152" name="Google Shape;152;p9"/>
          <p:cNvSpPr txBox="1"/>
          <p:nvPr/>
        </p:nvSpPr>
        <p:spPr>
          <a:xfrm>
            <a:off x="8593015" y="4056185"/>
            <a:ext cx="3446585"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The size of the column was Varchar(20). Using this query I changed the size of the column to Varchar(30).</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0"/>
          <p:cNvSpPr txBox="1"/>
          <p:nvPr/>
        </p:nvSpPr>
        <p:spPr>
          <a:xfrm>
            <a:off x="351692" y="304801"/>
            <a:ext cx="10656277" cy="661719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800" u="sng">
                <a:solidFill>
                  <a:srgbClr val="002060"/>
                </a:solidFill>
                <a:latin typeface="Angsana New"/>
                <a:ea typeface="Angsana New"/>
                <a:cs typeface="Angsana New"/>
                <a:sym typeface="Angsana New"/>
              </a:rPr>
              <a:t>ALTER(Dropping Column from a table)</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Consider the below students table.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Let’s suppose in this table you don’t want the weight column in your table i.e. you want to delete this column. So, you can use the DROP keyword in the ALTER statement in the below manner .</a:t>
            </a:r>
            <a:endParaRPr/>
          </a:p>
          <a:p>
            <a:pPr indent="-228600" lvl="1" marL="80010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a:p>
            <a:pPr indent="0" lvl="2" marL="914400" marR="0" rtl="0" algn="l">
              <a:spcBef>
                <a:spcPts val="0"/>
              </a:spcBef>
              <a:spcAft>
                <a:spcPts val="0"/>
              </a:spcAft>
              <a:buNone/>
            </a:pPr>
            <a:r>
              <a:rPr b="0" i="0" lang="en-US" sz="1800" u="none" cap="none" strike="noStrike">
                <a:solidFill>
                  <a:schemeClr val="dk1"/>
                </a:solidFill>
                <a:highlight>
                  <a:srgbClr val="FFFF00"/>
                </a:highlight>
                <a:latin typeface="Calibri"/>
                <a:ea typeface="Calibri"/>
                <a:cs typeface="Calibri"/>
                <a:sym typeface="Calibri"/>
              </a:rPr>
              <a:t>Alter table table_name drop column column_name;</a:t>
            </a:r>
            <a:endParaRPr/>
          </a:p>
          <a:p>
            <a:pPr indent="0" lvl="2" marL="91440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Alter table students drop column weight;</a:t>
            </a:r>
            <a:endParaRPr/>
          </a:p>
          <a:p>
            <a:pPr indent="-228600" lvl="0" marL="34290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If, you want to drop two or three columns together in one statement you can use the below syntax.</a:t>
            </a:r>
            <a:endParaRPr/>
          </a:p>
          <a:p>
            <a:pPr indent="-228600" lvl="0" marL="34290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2" marL="914400" marR="0" rtl="0" algn="l">
              <a:spcBef>
                <a:spcPts val="0"/>
              </a:spcBef>
              <a:spcAft>
                <a:spcPts val="0"/>
              </a:spcAft>
              <a:buNone/>
            </a:pPr>
            <a:r>
              <a:rPr b="0" i="0" lang="en-US" sz="1800" u="none" cap="none" strike="noStrike">
                <a:solidFill>
                  <a:schemeClr val="dk1"/>
                </a:solidFill>
                <a:highlight>
                  <a:srgbClr val="FFFF00"/>
                </a:highlight>
                <a:latin typeface="Calibri"/>
                <a:ea typeface="Calibri"/>
                <a:cs typeface="Calibri"/>
                <a:sym typeface="Calibri"/>
              </a:rPr>
              <a:t>Alter table table_name drop column column_name, drop column_column_name;</a:t>
            </a:r>
            <a:endParaRPr/>
          </a:p>
          <a:p>
            <a:pPr indent="0" lvl="2" marL="91440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Alter table students drop column Name, drop column age;</a:t>
            </a:r>
            <a:endParaRPr/>
          </a:p>
          <a:p>
            <a:pPr indent="0" lvl="4" marL="1828800" marR="0" rtl="0" algn="l">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158" name="Google Shape;158;p10"/>
          <p:cNvPicPr preferRelativeResize="0"/>
          <p:nvPr/>
        </p:nvPicPr>
        <p:blipFill rotWithShape="1">
          <a:blip r:embed="rId3">
            <a:alphaModFix/>
          </a:blip>
          <a:srcRect b="0" l="0" r="0" t="0"/>
          <a:stretch/>
        </p:blipFill>
        <p:spPr>
          <a:xfrm>
            <a:off x="5168525" y="1146475"/>
            <a:ext cx="3986900" cy="15063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1"/>
          <p:cNvSpPr txBox="1"/>
          <p:nvPr/>
        </p:nvSpPr>
        <p:spPr>
          <a:xfrm>
            <a:off x="351692" y="304801"/>
            <a:ext cx="10656300" cy="66171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800" u="sng">
                <a:solidFill>
                  <a:srgbClr val="002060"/>
                </a:solidFill>
                <a:latin typeface="Angsana New"/>
                <a:ea typeface="Angsana New"/>
                <a:cs typeface="Angsana New"/>
                <a:sym typeface="Angsana New"/>
              </a:rPr>
              <a:t>DROP TABLE OR DATABASE</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Consider the below students table.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Let’s suppose the above table students is of no use now as it contains only redundant data and you would like to delete this table from the database you can write the below query.</a:t>
            </a:r>
            <a:endParaRPr/>
          </a:p>
          <a:p>
            <a:pPr indent="-228600" lvl="1" marL="80010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a:p>
            <a:pPr indent="0" lvl="2" marL="914400" marR="0" rtl="0" algn="l">
              <a:spcBef>
                <a:spcPts val="0"/>
              </a:spcBef>
              <a:spcAft>
                <a:spcPts val="0"/>
              </a:spcAft>
              <a:buNone/>
            </a:pPr>
            <a:r>
              <a:rPr b="0" i="0" lang="en-US" sz="1800" u="none" cap="none" strike="noStrike">
                <a:solidFill>
                  <a:schemeClr val="dk1"/>
                </a:solidFill>
                <a:highlight>
                  <a:srgbClr val="FFFF00"/>
                </a:highlight>
                <a:latin typeface="Calibri"/>
                <a:ea typeface="Calibri"/>
                <a:cs typeface="Calibri"/>
                <a:sym typeface="Calibri"/>
              </a:rPr>
              <a:t>DROP TABLE TABLE_NAME</a:t>
            </a:r>
            <a:endParaRPr/>
          </a:p>
          <a:p>
            <a:pPr indent="0" lvl="2" marL="91440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DROP Table Students;</a:t>
            </a:r>
            <a:endParaRPr/>
          </a:p>
          <a:p>
            <a:pPr indent="-228600" lvl="0" marL="34290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228600" lvl="0" marL="34290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228600" lvl="0" marL="34290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If in case at any point of time you would like to get rid of the complete database you will write the below query.</a:t>
            </a:r>
            <a:endParaRPr/>
          </a:p>
          <a:p>
            <a:pPr indent="0" lvl="3" marL="137160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DROP Database Database_Name;</a:t>
            </a:r>
            <a:endParaRPr/>
          </a:p>
        </p:txBody>
      </p:sp>
      <p:pic>
        <p:nvPicPr>
          <p:cNvPr id="164" name="Google Shape;164;p11"/>
          <p:cNvPicPr preferRelativeResize="0"/>
          <p:nvPr/>
        </p:nvPicPr>
        <p:blipFill rotWithShape="1">
          <a:blip r:embed="rId3">
            <a:alphaModFix/>
          </a:blip>
          <a:srcRect b="0" l="0" r="0" t="0"/>
          <a:stretch/>
        </p:blipFill>
        <p:spPr>
          <a:xfrm>
            <a:off x="4077600" y="1097524"/>
            <a:ext cx="6184900" cy="1509225"/>
          </a:xfrm>
          <a:prstGeom prst="rect">
            <a:avLst/>
          </a:prstGeom>
          <a:noFill/>
          <a:ln>
            <a:noFill/>
          </a:ln>
        </p:spPr>
      </p:pic>
      <p:sp>
        <p:nvSpPr>
          <p:cNvPr id="165" name="Google Shape;165;p11"/>
          <p:cNvSpPr txBox="1"/>
          <p:nvPr/>
        </p:nvSpPr>
        <p:spPr>
          <a:xfrm>
            <a:off x="7153483" y="3388490"/>
            <a:ext cx="4032600" cy="1200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Remember, DROP is a DDL statement which is on auto save it means if you drop the table or database  like this it is permanently gone.</a:t>
            </a:r>
            <a:endParaRPr/>
          </a:p>
        </p:txBody>
      </p:sp>
      <p:cxnSp>
        <p:nvCxnSpPr>
          <p:cNvPr id="166" name="Google Shape;166;p11"/>
          <p:cNvCxnSpPr>
            <a:endCxn id="165" idx="1"/>
          </p:cNvCxnSpPr>
          <p:nvPr/>
        </p:nvCxnSpPr>
        <p:spPr>
          <a:xfrm flipH="1" rot="10800000">
            <a:off x="5019883" y="3988790"/>
            <a:ext cx="2133600" cy="1615500"/>
          </a:xfrm>
          <a:prstGeom prst="straightConnector1">
            <a:avLst/>
          </a:prstGeom>
          <a:noFill/>
          <a:ln cap="flat" cmpd="sng" w="9525">
            <a:solidFill>
              <a:schemeClr val="accent1"/>
            </a:solidFill>
            <a:prstDash val="solid"/>
            <a:miter lim="800000"/>
            <a:headEnd len="sm" w="sm" type="none"/>
            <a:tailEnd len="med" w="med" type="triangl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2"/>
          <p:cNvSpPr txBox="1"/>
          <p:nvPr/>
        </p:nvSpPr>
        <p:spPr>
          <a:xfrm>
            <a:off x="281354" y="269631"/>
            <a:ext cx="11523784" cy="827919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800" u="sng">
                <a:solidFill>
                  <a:srgbClr val="002060"/>
                </a:solidFill>
                <a:latin typeface="Angsana New"/>
                <a:ea typeface="Angsana New"/>
                <a:cs typeface="Angsana New"/>
                <a:sym typeface="Angsana New"/>
              </a:rPr>
              <a:t>TRUNCATE</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Truncate statement empties the entire table.</a:t>
            </a:r>
            <a:endParaRPr/>
          </a:p>
          <a:p>
            <a:pPr indent="-228600" lvl="0" marL="34290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Let’s suppose you have students table which has 10,000 rows of data in it. If you write a TRUNCATE statement on the table all the rows (10,000) will be deleted in one go. </a:t>
            </a:r>
            <a:endParaRPr/>
          </a:p>
          <a:p>
            <a:pPr indent="-228600" lvl="0" marL="34290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Consider the below table i.e. students 																																																																																																						</a:t>
            </a:r>
            <a:endParaRPr/>
          </a:p>
          <a:p>
            <a:pPr indent="-228600" lvl="0" marL="34290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As you can see in the above table there are five rows if I write the below query all the five rows will be deleted in one go.</a:t>
            </a:r>
            <a:endParaRPr/>
          </a:p>
          <a:p>
            <a:pPr indent="-228600" lvl="0" marL="34290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1" marL="457200" marR="0" rtl="0" algn="l">
              <a:spcBef>
                <a:spcPts val="0"/>
              </a:spcBef>
              <a:spcAft>
                <a:spcPts val="0"/>
              </a:spcAft>
              <a:buNone/>
            </a:pPr>
            <a:r>
              <a:rPr b="0" i="0" lang="en-US" sz="1800" u="none" cap="none" strike="noStrike">
                <a:solidFill>
                  <a:schemeClr val="dk1"/>
                </a:solidFill>
                <a:highlight>
                  <a:srgbClr val="FFFF00"/>
                </a:highlight>
                <a:latin typeface="Calibri"/>
                <a:ea typeface="Calibri"/>
                <a:cs typeface="Calibri"/>
                <a:sym typeface="Calibri"/>
              </a:rPr>
              <a:t>   Truncate table table_name;</a:t>
            </a:r>
            <a:endParaRPr/>
          </a:p>
          <a:p>
            <a:pPr indent="0" lvl="1" marL="45720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   Truncate Table students;</a:t>
            </a:r>
            <a:endParaRPr/>
          </a:p>
          <a:p>
            <a:pPr indent="-228600" lvl="0" marL="34290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228600" lvl="0" marL="34290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2" marL="91440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														</a:t>
            </a:r>
            <a:endParaRPr/>
          </a:p>
          <a:p>
            <a:pPr indent="0" lvl="2" marL="914400" marR="0" rtl="0" algn="l">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0" lvl="2" marL="914400" marR="0" rtl="0" algn="l">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0" lvl="2" marL="914400" marR="0" rtl="0" algn="l">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172" name="Google Shape;172;p12"/>
          <p:cNvPicPr preferRelativeResize="0"/>
          <p:nvPr/>
        </p:nvPicPr>
        <p:blipFill rotWithShape="1">
          <a:blip r:embed="rId3">
            <a:alphaModFix/>
          </a:blip>
          <a:srcRect b="0" l="0" r="0" t="0"/>
          <a:stretch/>
        </p:blipFill>
        <p:spPr>
          <a:xfrm>
            <a:off x="4605975" y="2260600"/>
            <a:ext cx="6184900" cy="17113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3"/>
          <p:cNvSpPr txBox="1"/>
          <p:nvPr/>
        </p:nvSpPr>
        <p:spPr>
          <a:xfrm>
            <a:off x="386862" y="175845"/>
            <a:ext cx="11441700" cy="55104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800" u="sng">
                <a:solidFill>
                  <a:srgbClr val="002060"/>
                </a:solidFill>
                <a:latin typeface="Angsana New"/>
                <a:ea typeface="Angsana New"/>
                <a:cs typeface="Angsana New"/>
                <a:sym typeface="Angsana New"/>
              </a:rPr>
              <a:t>COMMENT</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Sometimes in tables we have some columns which are not easy to understand so we can leave a comment on the column so that it is easy for the end user to understand the real meaning of such columns.</a:t>
            </a:r>
            <a:endParaRPr/>
          </a:p>
          <a:p>
            <a:pPr indent="-228600" lvl="0" marL="34290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Consider the below table students. We can understand all the columns but we are not sure what this bpm column means. So, what we can do is we can leave a comment on the column.																																																																																																																		</a:t>
            </a:r>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We can use the below syntax to put a comment on the column.</a:t>
            </a:r>
            <a:endParaRPr/>
          </a:p>
          <a:p>
            <a:pPr indent="0" lvl="1" marL="457200" marR="0" rtl="0" algn="l">
              <a:spcBef>
                <a:spcPts val="0"/>
              </a:spcBef>
              <a:spcAft>
                <a:spcPts val="0"/>
              </a:spcAft>
              <a:buNone/>
            </a:pPr>
            <a:r>
              <a:rPr b="0" i="0" lang="en-US" sz="1800" u="none" cap="none" strike="noStrike">
                <a:solidFill>
                  <a:schemeClr val="dk1"/>
                </a:solidFill>
                <a:highlight>
                  <a:srgbClr val="FFFF00"/>
                </a:highlight>
                <a:latin typeface="Calibri"/>
                <a:ea typeface="Calibri"/>
                <a:cs typeface="Calibri"/>
                <a:sym typeface="Calibri"/>
              </a:rPr>
              <a:t>Alter table table_name modify column column name datatype comment “ Your comments”</a:t>
            </a:r>
            <a:endParaRPr/>
          </a:p>
          <a:p>
            <a:pPr indent="0" lvl="1" marL="45720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Alter table students modify column bpm int unsigned comment “ Heart Beat for the student”.</a:t>
            </a:r>
            <a:endParaRPr/>
          </a:p>
          <a:p>
            <a:pPr indent="-228600" lvl="0" marL="34290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In order to check the comments on a column we can write the below query:</a:t>
            </a:r>
            <a:endParaRPr/>
          </a:p>
          <a:p>
            <a:pPr indent="0" lvl="1" marL="45720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	</a:t>
            </a:r>
            <a:r>
              <a:rPr b="0" i="0" lang="en-US" sz="1800" u="none" cap="none" strike="noStrike">
                <a:solidFill>
                  <a:schemeClr val="dk1"/>
                </a:solidFill>
                <a:highlight>
                  <a:srgbClr val="FFFF00"/>
                </a:highlight>
                <a:latin typeface="Calibri"/>
                <a:ea typeface="Calibri"/>
                <a:cs typeface="Calibri"/>
                <a:sym typeface="Calibri"/>
              </a:rPr>
              <a:t>Show full columns from table_name;</a:t>
            </a:r>
            <a:endParaRPr/>
          </a:p>
          <a:p>
            <a:pPr indent="0" lvl="1" marL="45720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         Show full columns from students;</a:t>
            </a:r>
            <a:endParaRPr/>
          </a:p>
        </p:txBody>
      </p:sp>
      <p:pic>
        <p:nvPicPr>
          <p:cNvPr id="178" name="Google Shape;178;p13"/>
          <p:cNvPicPr preferRelativeResize="0"/>
          <p:nvPr/>
        </p:nvPicPr>
        <p:blipFill rotWithShape="1">
          <a:blip r:embed="rId3">
            <a:alphaModFix/>
          </a:blip>
          <a:srcRect b="0" l="0" r="0" t="0"/>
          <a:stretch/>
        </p:blipFill>
        <p:spPr>
          <a:xfrm>
            <a:off x="3031500" y="2315525"/>
            <a:ext cx="6912600" cy="12677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2" name="Shape 182"/>
        <p:cNvGrpSpPr/>
        <p:nvPr/>
      </p:nvGrpSpPr>
      <p:grpSpPr>
        <a:xfrm>
          <a:off x="0" y="0"/>
          <a:ext cx="0" cy="0"/>
          <a:chOff x="0" y="0"/>
          <a:chExt cx="0" cy="0"/>
        </a:xfrm>
      </p:grpSpPr>
      <p:sp>
        <p:nvSpPr>
          <p:cNvPr id="183" name="Google Shape;183;p14"/>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4" name="Google Shape;184;p14"/>
          <p:cNvSpPr/>
          <p:nvPr/>
        </p:nvSpPr>
        <p:spPr>
          <a:xfrm>
            <a:off x="0" y="-1"/>
            <a:ext cx="11766176" cy="2061837"/>
          </a:xfrm>
          <a:custGeom>
            <a:rect b="b" l="l" r="r" t="t"/>
            <a:pathLst>
              <a:path extrusionOk="0" h="1978172" w="10768629">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4901"/>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5" name="Google Shape;185;p14"/>
          <p:cNvSpPr txBox="1"/>
          <p:nvPr>
            <p:ph type="title"/>
          </p:nvPr>
        </p:nvSpPr>
        <p:spPr>
          <a:xfrm>
            <a:off x="1137034" y="609597"/>
            <a:ext cx="9392421" cy="133084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highlight>
                  <a:srgbClr val="FFFF00"/>
                </a:highlight>
              </a:rPr>
              <a:t>	DML  &amp; TCL </a:t>
            </a:r>
            <a:endParaRPr/>
          </a:p>
        </p:txBody>
      </p:sp>
      <p:sp>
        <p:nvSpPr>
          <p:cNvPr id="186" name="Google Shape;186;p14"/>
          <p:cNvSpPr txBox="1"/>
          <p:nvPr>
            <p:ph idx="1" type="body"/>
          </p:nvPr>
        </p:nvSpPr>
        <p:spPr>
          <a:xfrm>
            <a:off x="1137034" y="2198362"/>
            <a:ext cx="4958966" cy="3917773"/>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1600"/>
              <a:buChar char="•"/>
            </a:pPr>
            <a:r>
              <a:rPr lang="en-US" sz="1600"/>
              <a:t>Data Manipulation Language helps us to work on the exact data points i.e. it helps us to work with the rows in a table as rows in a table consist of a exact data points. </a:t>
            </a:r>
            <a:endParaRPr/>
          </a:p>
          <a:p>
            <a:pPr indent="-127000" lvl="0" marL="228600" rtl="0" algn="l">
              <a:lnSpc>
                <a:spcPct val="90000"/>
              </a:lnSpc>
              <a:spcBef>
                <a:spcPts val="1000"/>
              </a:spcBef>
              <a:spcAft>
                <a:spcPts val="0"/>
              </a:spcAft>
              <a:buClr>
                <a:schemeClr val="dk1"/>
              </a:buClr>
              <a:buSzPts val="1600"/>
              <a:buNone/>
            </a:pPr>
            <a:r>
              <a:t/>
            </a:r>
            <a:endParaRPr sz="1600"/>
          </a:p>
          <a:p>
            <a:pPr indent="-228600" lvl="0" marL="228600" rtl="0" algn="l">
              <a:lnSpc>
                <a:spcPct val="90000"/>
              </a:lnSpc>
              <a:spcBef>
                <a:spcPts val="1000"/>
              </a:spcBef>
              <a:spcAft>
                <a:spcPts val="0"/>
              </a:spcAft>
              <a:buClr>
                <a:schemeClr val="dk1"/>
              </a:buClr>
              <a:buSzPts val="1600"/>
              <a:buChar char="•"/>
            </a:pPr>
            <a:r>
              <a:rPr lang="en-US" sz="1600"/>
              <a:t>Whenever, you make changes to the data in the table you need to confirm that whether you would like to save the changes that you have made or you would like to undo those changes.</a:t>
            </a:r>
            <a:endParaRPr/>
          </a:p>
          <a:p>
            <a:pPr indent="-127000" lvl="0" marL="228600" rtl="0" algn="l">
              <a:lnSpc>
                <a:spcPct val="90000"/>
              </a:lnSpc>
              <a:spcBef>
                <a:spcPts val="1000"/>
              </a:spcBef>
              <a:spcAft>
                <a:spcPts val="0"/>
              </a:spcAft>
              <a:buClr>
                <a:schemeClr val="dk1"/>
              </a:buClr>
              <a:buSzPts val="1600"/>
              <a:buNone/>
            </a:pPr>
            <a:r>
              <a:t/>
            </a:r>
            <a:endParaRPr sz="1600"/>
          </a:p>
          <a:p>
            <a:pPr indent="-228600" lvl="0" marL="228600" rtl="0" algn="l">
              <a:lnSpc>
                <a:spcPct val="90000"/>
              </a:lnSpc>
              <a:spcBef>
                <a:spcPts val="1000"/>
              </a:spcBef>
              <a:spcAft>
                <a:spcPts val="0"/>
              </a:spcAft>
              <a:buClr>
                <a:schemeClr val="dk1"/>
              </a:buClr>
              <a:buSzPts val="1600"/>
              <a:buChar char="•"/>
            </a:pPr>
            <a:r>
              <a:rPr lang="en-US" sz="1600"/>
              <a:t>For this reason Data Manipulation Language and Transaction Control Language goes hand in hand as DML will help you to make changes to the data values and TCL will help you to save or undo the changes that you have made. </a:t>
            </a:r>
            <a:endParaRPr/>
          </a:p>
          <a:p>
            <a:pPr indent="-228600" lvl="0" marL="228600" rtl="0" algn="l">
              <a:lnSpc>
                <a:spcPct val="90000"/>
              </a:lnSpc>
              <a:spcBef>
                <a:spcPts val="1000"/>
              </a:spcBef>
              <a:spcAft>
                <a:spcPts val="0"/>
              </a:spcAft>
              <a:buClr>
                <a:schemeClr val="dk1"/>
              </a:buClr>
              <a:buSzPts val="1600"/>
              <a:buChar char="•"/>
            </a:pPr>
            <a:r>
              <a:rPr lang="en-US" sz="1600"/>
              <a:t>Every time you write a DML statement a transaction gets initiated in the background and you need to write TCL statements to close that transaction.</a:t>
            </a:r>
            <a:endParaRPr/>
          </a:p>
          <a:p>
            <a:pPr indent="-127000" lvl="0" marL="228600" rtl="0" algn="l">
              <a:lnSpc>
                <a:spcPct val="90000"/>
              </a:lnSpc>
              <a:spcBef>
                <a:spcPts val="1000"/>
              </a:spcBef>
              <a:spcAft>
                <a:spcPts val="0"/>
              </a:spcAft>
              <a:buClr>
                <a:schemeClr val="dk1"/>
              </a:buClr>
              <a:buSzPts val="1600"/>
              <a:buNone/>
            </a:pPr>
            <a:r>
              <a:t/>
            </a:r>
            <a:endParaRPr sz="1600"/>
          </a:p>
          <a:p>
            <a:pPr indent="-127000" lvl="0" marL="228600" rtl="0" algn="l">
              <a:lnSpc>
                <a:spcPct val="90000"/>
              </a:lnSpc>
              <a:spcBef>
                <a:spcPts val="1000"/>
              </a:spcBef>
              <a:spcAft>
                <a:spcPts val="0"/>
              </a:spcAft>
              <a:buClr>
                <a:schemeClr val="dk1"/>
              </a:buClr>
              <a:buSzPts val="1600"/>
              <a:buNone/>
            </a:pPr>
            <a:r>
              <a:t/>
            </a:r>
            <a:endParaRPr sz="1600"/>
          </a:p>
        </p:txBody>
      </p:sp>
      <p:pic>
        <p:nvPicPr>
          <p:cNvPr descr="Desk with productivity items" id="187" name="Google Shape;187;p14"/>
          <p:cNvPicPr preferRelativeResize="0"/>
          <p:nvPr/>
        </p:nvPicPr>
        <p:blipFill rotWithShape="1">
          <a:blip r:embed="rId3">
            <a:alphaModFix/>
          </a:blip>
          <a:srcRect b="-1" l="27858" r="12608" t="0"/>
          <a:stretch/>
        </p:blipFill>
        <p:spPr>
          <a:xfrm>
            <a:off x="7438694" y="2184914"/>
            <a:ext cx="3349850" cy="3755915"/>
          </a:xfrm>
          <a:prstGeom prst="rect">
            <a:avLst/>
          </a:prstGeom>
          <a:noFill/>
          <a:ln>
            <a:noFill/>
          </a:ln>
        </p:spPr>
      </p:pic>
      <p:sp>
        <p:nvSpPr>
          <p:cNvPr id="188" name="Google Shape;188;p14"/>
          <p:cNvSpPr/>
          <p:nvPr/>
        </p:nvSpPr>
        <p:spPr>
          <a:xfrm rot="10800000">
            <a:off x="5381624" y="6209414"/>
            <a:ext cx="6810375" cy="648586"/>
          </a:xfrm>
          <a:custGeom>
            <a:rect b="b" l="l" r="r" t="t"/>
            <a:pathLst>
              <a:path extrusionOk="0" h="1027260" w="10753706">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4901"/>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5"/>
          <p:cNvSpPr txBox="1"/>
          <p:nvPr/>
        </p:nvSpPr>
        <p:spPr>
          <a:xfrm>
            <a:off x="164123" y="93785"/>
            <a:ext cx="11875477" cy="701730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highlight>
                  <a:srgbClr val="FFFF00"/>
                </a:highlight>
                <a:latin typeface="Calibri"/>
                <a:ea typeface="Calibri"/>
                <a:cs typeface="Calibri"/>
                <a:sym typeface="Calibri"/>
              </a:rPr>
              <a:t> DML Keywords – (INSERT, UPDATE, DELETE)</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r>
              <a:rPr lang="en-US" sz="1800">
                <a:solidFill>
                  <a:schemeClr val="dk1"/>
                </a:solidFill>
                <a:highlight>
                  <a:srgbClr val="FFFF00"/>
                </a:highlight>
                <a:latin typeface="Calibri"/>
                <a:ea typeface="Calibri"/>
                <a:cs typeface="Calibri"/>
                <a:sym typeface="Calibri"/>
              </a:rPr>
              <a:t>INSERT</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Insert keyword or statement is used whenever we want to insert values in a table. </a:t>
            </a:r>
            <a:endParaRPr/>
          </a:p>
          <a:p>
            <a:pPr indent="-228600" lvl="0" marL="34290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Consider this example. I have a table named students as shown in the screenshot below.																																																																</a:t>
            </a:r>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I want to add a new row for the student named F so I will use the below syntax.</a:t>
            </a:r>
            <a:endParaRPr/>
          </a:p>
          <a:p>
            <a:pPr indent="0" lvl="2" marL="914400" marR="0" rtl="0" algn="l">
              <a:spcBef>
                <a:spcPts val="0"/>
              </a:spcBef>
              <a:spcAft>
                <a:spcPts val="0"/>
              </a:spcAft>
              <a:buNone/>
            </a:pPr>
            <a:r>
              <a:rPr b="0" i="0" lang="en-US" sz="1800" u="none" cap="none" strike="noStrike">
                <a:solidFill>
                  <a:schemeClr val="dk1"/>
                </a:solidFill>
                <a:highlight>
                  <a:srgbClr val="FFFF00"/>
                </a:highlight>
                <a:latin typeface="Calibri"/>
                <a:ea typeface="Calibri"/>
                <a:cs typeface="Calibri"/>
                <a:sym typeface="Calibri"/>
              </a:rPr>
              <a:t>Insert into table_name values (col1value,col2value,col3value,col4value)</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Insert into students values (6,’F’,22,79);</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highlight>
                  <a:srgbClr val="FFFF00"/>
                </a:highlight>
                <a:latin typeface="Calibri"/>
                <a:ea typeface="Calibri"/>
                <a:cs typeface="Calibri"/>
                <a:sym typeface="Calibri"/>
              </a:rPr>
              <a:t>Note</a:t>
            </a:r>
            <a:r>
              <a:rPr lang="en-US" sz="1800">
                <a:solidFill>
                  <a:schemeClr val="dk1"/>
                </a:solidFill>
                <a:latin typeface="Calibri"/>
                <a:ea typeface="Calibri"/>
                <a:cs typeface="Calibri"/>
                <a:sym typeface="Calibri"/>
              </a:rPr>
              <a:t>: Make sure the values you are mentioning it should be in the same sequence as per the column name as the first value will go to column1, second value will go to column2 and so on.</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4. If in case you know the values only for let’s say student_id and Weight and you want to insert values only in these two columns ( condition that there is no not null constraint on any column) you can use the below query</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Insert into students (student_id,weight) values (6,70);</a:t>
            </a:r>
            <a:endParaRPr/>
          </a:p>
          <a:p>
            <a:pPr indent="-228600" lvl="1" marL="80010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pic>
        <p:nvPicPr>
          <p:cNvPr id="194" name="Google Shape;194;p15"/>
          <p:cNvPicPr preferRelativeResize="0"/>
          <p:nvPr/>
        </p:nvPicPr>
        <p:blipFill rotWithShape="1">
          <a:blip r:embed="rId3">
            <a:alphaModFix/>
          </a:blip>
          <a:srcRect b="0" l="0" r="0" t="0"/>
          <a:stretch/>
        </p:blipFill>
        <p:spPr>
          <a:xfrm>
            <a:off x="8094475" y="2086350"/>
            <a:ext cx="3572120" cy="134046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8" name="Shape 198"/>
        <p:cNvGrpSpPr/>
        <p:nvPr/>
      </p:nvGrpSpPr>
      <p:grpSpPr>
        <a:xfrm>
          <a:off x="0" y="0"/>
          <a:ext cx="0" cy="0"/>
          <a:chOff x="0" y="0"/>
          <a:chExt cx="0" cy="0"/>
        </a:xfrm>
      </p:grpSpPr>
      <p:sp>
        <p:nvSpPr>
          <p:cNvPr id="199" name="Google Shape;199;p16"/>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Magnifying glass on clear background" id="200" name="Google Shape;200;p16"/>
          <p:cNvPicPr preferRelativeResize="0"/>
          <p:nvPr/>
        </p:nvPicPr>
        <p:blipFill rotWithShape="1">
          <a:blip r:embed="rId3">
            <a:alphaModFix/>
          </a:blip>
          <a:srcRect b="-1" l="39509" r="13230" t="0"/>
          <a:stretch/>
        </p:blipFill>
        <p:spPr>
          <a:xfrm>
            <a:off x="-7366" y="10"/>
            <a:ext cx="4855591" cy="6857990"/>
          </a:xfrm>
          <a:custGeom>
            <a:rect b="b" l="l" r="r" t="t"/>
            <a:pathLst>
              <a:path extrusionOk="0" h="6858000" w="4636517">
                <a:moveTo>
                  <a:pt x="0" y="0"/>
                </a:moveTo>
                <a:lnTo>
                  <a:pt x="4636517" y="0"/>
                </a:lnTo>
                <a:lnTo>
                  <a:pt x="4636517" y="6858000"/>
                </a:lnTo>
                <a:lnTo>
                  <a:pt x="0" y="6858000"/>
                </a:lnTo>
                <a:close/>
              </a:path>
            </a:pathLst>
          </a:custGeom>
          <a:noFill/>
          <a:ln>
            <a:noFill/>
          </a:ln>
        </p:spPr>
      </p:pic>
      <p:sp>
        <p:nvSpPr>
          <p:cNvPr id="201" name="Google Shape;201;p16"/>
          <p:cNvSpPr/>
          <p:nvPr/>
        </p:nvSpPr>
        <p:spPr>
          <a:xfrm>
            <a:off x="8673531" y="407987"/>
            <a:ext cx="2987899" cy="2987899"/>
          </a:xfrm>
          <a:prstGeom prst="arc">
            <a:avLst>
              <a:gd fmla="val 16200000" name="adj1"/>
              <a:gd fmla="val 256372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02" name="Google Shape;202;p16"/>
          <p:cNvSpPr txBox="1"/>
          <p:nvPr/>
        </p:nvSpPr>
        <p:spPr>
          <a:xfrm>
            <a:off x="5827048" y="407987"/>
            <a:ext cx="5721484" cy="5811838"/>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 Once you have inserted the data, only you and only you can see the data in the table. If there are other people who have access to the same table and they try to see the data that you have inserted they will not be able to see anything as INSERT is a DML statement and every DML statement needs to be saved in order to make the changes permanent in the table. </a:t>
            </a:r>
            <a:endParaRPr/>
          </a:p>
          <a:p>
            <a:pPr indent="0" lvl="0" marL="0" marR="0" rtl="0" algn="l">
              <a:lnSpc>
                <a:spcPct val="90000"/>
              </a:lnSpc>
              <a:spcBef>
                <a:spcPts val="600"/>
              </a:spcBef>
              <a:spcAft>
                <a:spcPts val="0"/>
              </a:spcAft>
              <a:buNone/>
            </a:pPr>
            <a:r>
              <a:t/>
            </a:r>
            <a:endParaRPr sz="1800">
              <a:solidFill>
                <a:schemeClr val="dk1"/>
              </a:solidFill>
              <a:latin typeface="Calibri"/>
              <a:ea typeface="Calibri"/>
              <a:cs typeface="Calibri"/>
              <a:sym typeface="Calibri"/>
            </a:endParaRPr>
          </a:p>
          <a:p>
            <a:pPr indent="0" lvl="0" marL="0" marR="0" rtl="0" algn="l">
              <a:lnSpc>
                <a:spcPct val="90000"/>
              </a:lnSpc>
              <a:spcBef>
                <a:spcPts val="600"/>
              </a:spcBef>
              <a:spcAft>
                <a:spcPts val="0"/>
              </a:spcAft>
              <a:buNone/>
            </a:pPr>
            <a:r>
              <a:rPr lang="en-US" sz="1800">
                <a:solidFill>
                  <a:schemeClr val="dk1"/>
                </a:solidFill>
                <a:latin typeface="Calibri"/>
                <a:ea typeface="Calibri"/>
                <a:cs typeface="Calibri"/>
                <a:sym typeface="Calibri"/>
              </a:rPr>
              <a:t>🡪  In order to save the DML statement like in this scenario the INSERT statement you will write the below TCL command and execute it which acts like CTRL+S of Excel.</a:t>
            </a:r>
            <a:endParaRPr/>
          </a:p>
          <a:p>
            <a:pPr indent="0" lvl="0" marL="0" marR="0" rtl="0" algn="l">
              <a:lnSpc>
                <a:spcPct val="90000"/>
              </a:lnSpc>
              <a:spcBef>
                <a:spcPts val="600"/>
              </a:spcBef>
              <a:spcAft>
                <a:spcPts val="0"/>
              </a:spcAft>
              <a:buNone/>
            </a:pPr>
            <a:r>
              <a:t/>
            </a:r>
            <a:endParaRPr sz="1800">
              <a:solidFill>
                <a:schemeClr val="dk1"/>
              </a:solidFill>
              <a:latin typeface="Calibri"/>
              <a:ea typeface="Calibri"/>
              <a:cs typeface="Calibri"/>
              <a:sym typeface="Calibri"/>
            </a:endParaRPr>
          </a:p>
          <a:p>
            <a:pPr indent="0" lvl="0" marL="0" marR="0" rtl="0" algn="l">
              <a:lnSpc>
                <a:spcPct val="90000"/>
              </a:lnSpc>
              <a:spcBef>
                <a:spcPts val="600"/>
              </a:spcBef>
              <a:spcAft>
                <a:spcPts val="0"/>
              </a:spcAft>
              <a:buNone/>
            </a:pPr>
            <a:r>
              <a:rPr lang="en-US" sz="1800">
                <a:solidFill>
                  <a:schemeClr val="dk1"/>
                </a:solidFill>
                <a:latin typeface="Calibri"/>
                <a:ea typeface="Calibri"/>
                <a:cs typeface="Calibri"/>
                <a:sym typeface="Calibri"/>
              </a:rPr>
              <a:t>		</a:t>
            </a:r>
            <a:r>
              <a:rPr lang="en-US" sz="1800">
                <a:solidFill>
                  <a:schemeClr val="dk1"/>
                </a:solidFill>
                <a:highlight>
                  <a:srgbClr val="FFFF00"/>
                </a:highlight>
                <a:latin typeface="Calibri"/>
                <a:ea typeface="Calibri"/>
                <a:cs typeface="Calibri"/>
                <a:sym typeface="Calibri"/>
              </a:rPr>
              <a:t>COMMIT;</a:t>
            </a:r>
            <a:endParaRPr/>
          </a:p>
          <a:p>
            <a:pPr indent="114300" lvl="0" marL="0" marR="0" rtl="0" algn="l">
              <a:lnSpc>
                <a:spcPct val="90000"/>
              </a:lnSpc>
              <a:spcBef>
                <a:spcPts val="60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a:p>
            <a:pPr indent="0" lvl="0" marL="0" marR="0" rtl="0" algn="l">
              <a:lnSpc>
                <a:spcPct val="90000"/>
              </a:lnSpc>
              <a:spcBef>
                <a:spcPts val="600"/>
              </a:spcBef>
              <a:spcAft>
                <a:spcPts val="0"/>
              </a:spcAft>
              <a:buNone/>
            </a:pPr>
            <a:r>
              <a:rPr lang="en-US" sz="1800">
                <a:solidFill>
                  <a:schemeClr val="dk1"/>
                </a:solidFill>
                <a:latin typeface="Calibri"/>
                <a:ea typeface="Calibri"/>
                <a:cs typeface="Calibri"/>
                <a:sym typeface="Calibri"/>
              </a:rPr>
              <a:t>🡪 Let’s suppose you have inserted some rows into a table and later you realized that you would not like to go ahead in saving those records so you can write the below statements which acts like CTRL+Z of Excel.</a:t>
            </a:r>
            <a:endParaRPr/>
          </a:p>
          <a:p>
            <a:pPr indent="114300" lvl="0" marL="0" marR="0" rtl="0" algn="l">
              <a:lnSpc>
                <a:spcPct val="90000"/>
              </a:lnSpc>
              <a:spcBef>
                <a:spcPts val="60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a:p>
            <a:pPr indent="0" lvl="0" marL="0" marR="0" rtl="0" algn="l">
              <a:lnSpc>
                <a:spcPct val="90000"/>
              </a:lnSpc>
              <a:spcBef>
                <a:spcPts val="600"/>
              </a:spcBef>
              <a:spcAft>
                <a:spcPts val="0"/>
              </a:spcAft>
              <a:buNone/>
            </a:pPr>
            <a:r>
              <a:rPr lang="en-US" sz="1800">
                <a:solidFill>
                  <a:schemeClr val="dk1"/>
                </a:solidFill>
                <a:latin typeface="Calibri"/>
                <a:ea typeface="Calibri"/>
                <a:cs typeface="Calibri"/>
                <a:sym typeface="Calibri"/>
              </a:rPr>
              <a:t>		</a:t>
            </a:r>
            <a:r>
              <a:rPr lang="en-US" sz="1800">
                <a:solidFill>
                  <a:schemeClr val="dk1"/>
                </a:solidFill>
                <a:highlight>
                  <a:srgbClr val="FFFF00"/>
                </a:highlight>
                <a:latin typeface="Calibri"/>
                <a:ea typeface="Calibri"/>
                <a:cs typeface="Calibri"/>
                <a:sym typeface="Calibri"/>
              </a:rPr>
              <a:t>ROLLBACK;</a:t>
            </a:r>
            <a:endParaRPr/>
          </a:p>
          <a:p>
            <a:pPr indent="114300" lvl="0" marL="0" marR="0" rtl="0" algn="l">
              <a:lnSpc>
                <a:spcPct val="90000"/>
              </a:lnSpc>
              <a:spcBef>
                <a:spcPts val="60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a:p>
            <a:pPr indent="114300" lvl="0" marL="0" marR="0" rtl="0" algn="l">
              <a:lnSpc>
                <a:spcPct val="90000"/>
              </a:lnSpc>
              <a:spcBef>
                <a:spcPts val="600"/>
              </a:spcBef>
              <a:spcAft>
                <a:spcPts val="0"/>
              </a:spcAft>
              <a:buClr>
                <a:schemeClr val="dk1"/>
              </a:buClr>
              <a:buSzPts val="1800"/>
              <a:buFont typeface="Arial"/>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17"/>
          <p:cNvSpPr txBox="1"/>
          <p:nvPr/>
        </p:nvSpPr>
        <p:spPr>
          <a:xfrm>
            <a:off x="164123" y="93785"/>
            <a:ext cx="11875477" cy="59093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highlight>
                  <a:srgbClr val="FFFF00"/>
                </a:highlight>
                <a:latin typeface="Calibri"/>
                <a:ea typeface="Calibri"/>
                <a:cs typeface="Calibri"/>
                <a:sym typeface="Calibri"/>
              </a:rPr>
              <a:t> DML Keywords – (INSERT, UPDATE, DELETE)</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r>
              <a:rPr lang="en-US" sz="1800">
                <a:solidFill>
                  <a:schemeClr val="dk1"/>
                </a:solidFill>
                <a:highlight>
                  <a:srgbClr val="FFFF00"/>
                </a:highlight>
                <a:latin typeface="Calibri"/>
                <a:ea typeface="Calibri"/>
                <a:cs typeface="Calibri"/>
                <a:sym typeface="Calibri"/>
              </a:rPr>
              <a:t>DELETE</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Delete keyword or statement is used to delete the values in a table. </a:t>
            </a:r>
            <a:endParaRPr/>
          </a:p>
          <a:p>
            <a:pPr indent="-228600" lvl="0" marL="34290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Consider this example. I have a table named students as shown in the screenshot below.																																																																</a:t>
            </a:r>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I want to delete the student whose name is A</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2" marL="914400" marR="0" rtl="0" algn="l">
              <a:spcBef>
                <a:spcPts val="0"/>
              </a:spcBef>
              <a:spcAft>
                <a:spcPts val="0"/>
              </a:spcAft>
              <a:buNone/>
            </a:pPr>
            <a:r>
              <a:rPr b="0" i="0" lang="en-US" sz="1800" u="none" cap="none" strike="noStrike">
                <a:solidFill>
                  <a:schemeClr val="dk1"/>
                </a:solidFill>
                <a:highlight>
                  <a:srgbClr val="FFFF00"/>
                </a:highlight>
                <a:latin typeface="Calibri"/>
                <a:ea typeface="Calibri"/>
                <a:cs typeface="Calibri"/>
                <a:sym typeface="Calibri"/>
              </a:rPr>
              <a:t>Delete from table_name where condition</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Delete from Students where student_id = 1;</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highlight>
                  <a:srgbClr val="FFFF00"/>
                </a:highlight>
                <a:latin typeface="Calibri"/>
                <a:ea typeface="Calibri"/>
                <a:cs typeface="Calibri"/>
                <a:sym typeface="Calibri"/>
              </a:rPr>
              <a:t>Note</a:t>
            </a:r>
            <a:r>
              <a:rPr lang="en-US" sz="1800">
                <a:solidFill>
                  <a:schemeClr val="dk1"/>
                </a:solidFill>
                <a:latin typeface="Calibri"/>
                <a:ea typeface="Calibri"/>
                <a:cs typeface="Calibri"/>
                <a:sym typeface="Calibri"/>
              </a:rPr>
              <a:t>: Make sure you are giving some unique identifier in the where clause for system to understand which row to delete otherwise system will delete  all the rows i.e. the entire table will go empty all the rows will be deleted.</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208" name="Google Shape;208;p17"/>
          <p:cNvPicPr preferRelativeResize="0"/>
          <p:nvPr/>
        </p:nvPicPr>
        <p:blipFill rotWithShape="1">
          <a:blip r:embed="rId3">
            <a:alphaModFix/>
          </a:blip>
          <a:srcRect b="0" l="0" r="0" t="0"/>
          <a:stretch/>
        </p:blipFill>
        <p:spPr>
          <a:xfrm>
            <a:off x="6928475" y="2303800"/>
            <a:ext cx="3572120" cy="134046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2" name="Shape 212"/>
        <p:cNvGrpSpPr/>
        <p:nvPr/>
      </p:nvGrpSpPr>
      <p:grpSpPr>
        <a:xfrm>
          <a:off x="0" y="0"/>
          <a:ext cx="0" cy="0"/>
          <a:chOff x="0" y="0"/>
          <a:chExt cx="0" cy="0"/>
        </a:xfrm>
      </p:grpSpPr>
      <p:sp>
        <p:nvSpPr>
          <p:cNvPr id="213" name="Google Shape;213;p18"/>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4" name="Google Shape;214;p18"/>
          <p:cNvSpPr/>
          <p:nvPr/>
        </p:nvSpPr>
        <p:spPr>
          <a:xfrm flipH="1">
            <a:off x="8576720" y="3335867"/>
            <a:ext cx="3291840" cy="3200400"/>
          </a:xfrm>
          <a:prstGeom prst="rtTriangle">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5" name="Google Shape;215;p18"/>
          <p:cNvSpPr/>
          <p:nvPr/>
        </p:nvSpPr>
        <p:spPr>
          <a:xfrm>
            <a:off x="641774" y="623275"/>
            <a:ext cx="10905053" cy="5607882"/>
          </a:xfrm>
          <a:prstGeom prst="rect">
            <a:avLst/>
          </a:prstGeom>
          <a:noFill/>
          <a:ln cap="flat" cmpd="sng" w="19050">
            <a:solidFill>
              <a:srgbClr val="3F3F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6" name="Google Shape;216;p18"/>
          <p:cNvSpPr txBox="1"/>
          <p:nvPr/>
        </p:nvSpPr>
        <p:spPr>
          <a:xfrm>
            <a:off x="1285240" y="800101"/>
            <a:ext cx="8074815" cy="4969764"/>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  Once you have deleted  the data, only you and only you can see the  deleted data in the table. If there are other people who have access to the same table and they try to see the data they will still see the  data as DELETE is a DML statement and every DML statement needs to be saved in order to make the changes permanent in the table. </a:t>
            </a:r>
            <a:endParaRPr/>
          </a:p>
          <a:p>
            <a:pPr indent="127000" lvl="0" marL="0" marR="0" rtl="0" algn="l">
              <a:lnSpc>
                <a:spcPct val="90000"/>
              </a:lnSpc>
              <a:spcBef>
                <a:spcPts val="600"/>
              </a:spcBef>
              <a:spcAft>
                <a:spcPts val="0"/>
              </a:spcAft>
              <a:buClr>
                <a:schemeClr val="dk1"/>
              </a:buClr>
              <a:buSzPts val="2000"/>
              <a:buFont typeface="Arial"/>
              <a:buNone/>
            </a:pPr>
            <a:r>
              <a:t/>
            </a:r>
            <a:endParaRPr sz="2000">
              <a:solidFill>
                <a:schemeClr val="dk1"/>
              </a:solidFill>
              <a:latin typeface="Calibri"/>
              <a:ea typeface="Calibri"/>
              <a:cs typeface="Calibri"/>
              <a:sym typeface="Calibri"/>
            </a:endParaRPr>
          </a:p>
          <a:p>
            <a:pPr indent="0" lvl="0" marL="0" marR="0" rtl="0" algn="l">
              <a:lnSpc>
                <a:spcPct val="90000"/>
              </a:lnSpc>
              <a:spcBef>
                <a:spcPts val="600"/>
              </a:spcBef>
              <a:spcAft>
                <a:spcPts val="0"/>
              </a:spcAft>
              <a:buNone/>
            </a:pPr>
            <a:r>
              <a:rPr lang="en-US" sz="2000">
                <a:solidFill>
                  <a:schemeClr val="dk1"/>
                </a:solidFill>
                <a:latin typeface="Calibri"/>
                <a:ea typeface="Calibri"/>
                <a:cs typeface="Calibri"/>
                <a:sym typeface="Calibri"/>
              </a:rPr>
              <a:t>🡪 In order to save the DML statement like in this scenario the Delete statement you will write the below TCL command and execute it which acts like CTRL+S of Excel.</a:t>
            </a:r>
            <a:endParaRPr/>
          </a:p>
          <a:p>
            <a:pPr indent="127000" lvl="0" marL="0" marR="0" rtl="0" algn="l">
              <a:lnSpc>
                <a:spcPct val="90000"/>
              </a:lnSpc>
              <a:spcBef>
                <a:spcPts val="600"/>
              </a:spcBef>
              <a:spcAft>
                <a:spcPts val="0"/>
              </a:spcAft>
              <a:buClr>
                <a:schemeClr val="dk1"/>
              </a:buClr>
              <a:buSzPts val="2000"/>
              <a:buFont typeface="Arial"/>
              <a:buNone/>
            </a:pPr>
            <a:r>
              <a:t/>
            </a:r>
            <a:endParaRPr sz="2000">
              <a:solidFill>
                <a:schemeClr val="dk1"/>
              </a:solidFill>
              <a:latin typeface="Calibri"/>
              <a:ea typeface="Calibri"/>
              <a:cs typeface="Calibri"/>
              <a:sym typeface="Calibri"/>
            </a:endParaRPr>
          </a:p>
          <a:p>
            <a:pPr indent="0" lvl="0" marL="0" marR="0" rtl="0" algn="l">
              <a:lnSpc>
                <a:spcPct val="90000"/>
              </a:lnSpc>
              <a:spcBef>
                <a:spcPts val="600"/>
              </a:spcBef>
              <a:spcAft>
                <a:spcPts val="0"/>
              </a:spcAft>
              <a:buNone/>
            </a:pPr>
            <a:r>
              <a:rPr lang="en-US" sz="2000">
                <a:solidFill>
                  <a:schemeClr val="dk1"/>
                </a:solidFill>
                <a:latin typeface="Calibri"/>
                <a:ea typeface="Calibri"/>
                <a:cs typeface="Calibri"/>
                <a:sym typeface="Calibri"/>
              </a:rPr>
              <a:t>		COMMIT;</a:t>
            </a:r>
            <a:endParaRPr/>
          </a:p>
          <a:p>
            <a:pPr indent="127000" lvl="0" marL="0" marR="0" rtl="0" algn="l">
              <a:lnSpc>
                <a:spcPct val="90000"/>
              </a:lnSpc>
              <a:spcBef>
                <a:spcPts val="600"/>
              </a:spcBef>
              <a:spcAft>
                <a:spcPts val="0"/>
              </a:spcAft>
              <a:buClr>
                <a:schemeClr val="dk1"/>
              </a:buClr>
              <a:buSzPts val="2000"/>
              <a:buFont typeface="Arial"/>
              <a:buNone/>
            </a:pPr>
            <a:r>
              <a:t/>
            </a:r>
            <a:endParaRPr sz="2000">
              <a:solidFill>
                <a:schemeClr val="dk1"/>
              </a:solidFill>
              <a:latin typeface="Calibri"/>
              <a:ea typeface="Calibri"/>
              <a:cs typeface="Calibri"/>
              <a:sym typeface="Calibri"/>
            </a:endParaRPr>
          </a:p>
          <a:p>
            <a:pPr indent="0" lvl="0" marL="0" marR="0" rtl="0" algn="l">
              <a:lnSpc>
                <a:spcPct val="90000"/>
              </a:lnSpc>
              <a:spcBef>
                <a:spcPts val="600"/>
              </a:spcBef>
              <a:spcAft>
                <a:spcPts val="0"/>
              </a:spcAft>
              <a:buNone/>
            </a:pPr>
            <a:r>
              <a:rPr lang="en-US" sz="2000">
                <a:solidFill>
                  <a:schemeClr val="dk1"/>
                </a:solidFill>
                <a:latin typeface="Calibri"/>
                <a:ea typeface="Calibri"/>
                <a:cs typeface="Calibri"/>
                <a:sym typeface="Calibri"/>
              </a:rPr>
              <a:t>🡪 Let’s suppose you have deleted some rows into a table and later you realized that you would not like to go ahead in saving those records so you can write the below statements which acts like CTRL+Z of Excel.</a:t>
            </a:r>
            <a:endParaRPr/>
          </a:p>
          <a:p>
            <a:pPr indent="127000" lvl="0" marL="0" marR="0" rtl="0" algn="l">
              <a:lnSpc>
                <a:spcPct val="90000"/>
              </a:lnSpc>
              <a:spcBef>
                <a:spcPts val="600"/>
              </a:spcBef>
              <a:spcAft>
                <a:spcPts val="0"/>
              </a:spcAft>
              <a:buClr>
                <a:schemeClr val="dk1"/>
              </a:buClr>
              <a:buSzPts val="2000"/>
              <a:buFont typeface="Arial"/>
              <a:buNone/>
            </a:pPr>
            <a:r>
              <a:t/>
            </a:r>
            <a:endParaRPr sz="2000">
              <a:solidFill>
                <a:schemeClr val="dk1"/>
              </a:solidFill>
              <a:latin typeface="Calibri"/>
              <a:ea typeface="Calibri"/>
              <a:cs typeface="Calibri"/>
              <a:sym typeface="Calibri"/>
            </a:endParaRPr>
          </a:p>
          <a:p>
            <a:pPr indent="0" lvl="0" marL="0" marR="0" rtl="0" algn="l">
              <a:lnSpc>
                <a:spcPct val="90000"/>
              </a:lnSpc>
              <a:spcBef>
                <a:spcPts val="600"/>
              </a:spcBef>
              <a:spcAft>
                <a:spcPts val="0"/>
              </a:spcAft>
              <a:buNone/>
            </a:pPr>
            <a:r>
              <a:rPr lang="en-US" sz="2000">
                <a:solidFill>
                  <a:schemeClr val="dk1"/>
                </a:solidFill>
                <a:latin typeface="Calibri"/>
                <a:ea typeface="Calibri"/>
                <a:cs typeface="Calibri"/>
                <a:sym typeface="Calibri"/>
              </a:rPr>
              <a:t>	ROLLBACK;</a:t>
            </a:r>
            <a:endParaRPr/>
          </a:p>
          <a:p>
            <a:pPr indent="127000" lvl="0" marL="0" marR="0" rtl="0" algn="l">
              <a:lnSpc>
                <a:spcPct val="90000"/>
              </a:lnSpc>
              <a:spcBef>
                <a:spcPts val="600"/>
              </a:spcBef>
              <a:spcAft>
                <a:spcPts val="0"/>
              </a:spcAft>
              <a:buClr>
                <a:schemeClr val="dk1"/>
              </a:buClr>
              <a:buSzPts val="2000"/>
              <a:buFont typeface="Arial"/>
              <a:buNone/>
            </a:pPr>
            <a:r>
              <a:t/>
            </a:r>
            <a:endParaRPr sz="2000">
              <a:solidFill>
                <a:schemeClr val="dk1"/>
              </a:solidFill>
              <a:latin typeface="Calibri"/>
              <a:ea typeface="Calibri"/>
              <a:cs typeface="Calibri"/>
              <a:sym typeface="Calibri"/>
            </a:endParaRPr>
          </a:p>
          <a:p>
            <a:pPr indent="127000" lvl="0" marL="0" marR="0" rtl="0" algn="l">
              <a:lnSpc>
                <a:spcPct val="90000"/>
              </a:lnSpc>
              <a:spcBef>
                <a:spcPts val="600"/>
              </a:spcBef>
              <a:spcAft>
                <a:spcPts val="0"/>
              </a:spcAft>
              <a:buClr>
                <a:schemeClr val="dk1"/>
              </a:buClr>
              <a:buSzPts val="2000"/>
              <a:buFont typeface="Arial"/>
              <a:buNone/>
            </a:pPr>
            <a:r>
              <a:t/>
            </a:r>
            <a:endParaRPr sz="20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19"/>
          <p:cNvSpPr txBox="1"/>
          <p:nvPr/>
        </p:nvSpPr>
        <p:spPr>
          <a:xfrm>
            <a:off x="164123" y="93785"/>
            <a:ext cx="11875477" cy="59093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highlight>
                  <a:srgbClr val="FFFF00"/>
                </a:highlight>
                <a:latin typeface="Calibri"/>
                <a:ea typeface="Calibri"/>
                <a:cs typeface="Calibri"/>
                <a:sym typeface="Calibri"/>
              </a:rPr>
              <a:t> DML Keywords – (INSERT, UPDATE, DELETE)</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a:t>
            </a:r>
            <a:r>
              <a:rPr lang="en-US" sz="1800">
                <a:solidFill>
                  <a:schemeClr val="dk1"/>
                </a:solidFill>
                <a:highlight>
                  <a:srgbClr val="FFFF00"/>
                </a:highlight>
                <a:latin typeface="Calibri"/>
                <a:ea typeface="Calibri"/>
                <a:cs typeface="Calibri"/>
                <a:sym typeface="Calibri"/>
              </a:rPr>
              <a:t>UPDATE</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Update keyword or statement is used update the values in a table. </a:t>
            </a:r>
            <a:endParaRPr/>
          </a:p>
          <a:p>
            <a:pPr indent="-228600" lvl="0" marL="34290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Consider this example. I have a table named students as shown in the screenshot below.																																																																</a:t>
            </a:r>
            <a:endParaRPr/>
          </a:p>
          <a:p>
            <a:pPr indent="-342900" lvl="0" marL="342900" marR="0" rtl="0" algn="l">
              <a:spcBef>
                <a:spcPts val="0"/>
              </a:spcBef>
              <a:spcAft>
                <a:spcPts val="0"/>
              </a:spcAft>
              <a:buClr>
                <a:schemeClr val="dk1"/>
              </a:buClr>
              <a:buSzPts val="1800"/>
              <a:buFont typeface="Calibri"/>
              <a:buAutoNum type="arabicPeriod"/>
            </a:pPr>
            <a:r>
              <a:rPr lang="en-US" sz="1800">
                <a:solidFill>
                  <a:schemeClr val="dk1"/>
                </a:solidFill>
                <a:latin typeface="Calibri"/>
                <a:ea typeface="Calibri"/>
                <a:cs typeface="Calibri"/>
                <a:sym typeface="Calibri"/>
              </a:rPr>
              <a:t>I want to change the weight of the student whose name is A from 50 to 70</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2" marL="914400" marR="0" rtl="0" algn="l">
              <a:spcBef>
                <a:spcPts val="0"/>
              </a:spcBef>
              <a:spcAft>
                <a:spcPts val="0"/>
              </a:spcAft>
              <a:buNone/>
            </a:pPr>
            <a:r>
              <a:rPr b="0" i="0" lang="en-US" sz="1800" u="none" cap="none" strike="noStrike">
                <a:solidFill>
                  <a:schemeClr val="dk1"/>
                </a:solidFill>
                <a:highlight>
                  <a:srgbClr val="FFFF00"/>
                </a:highlight>
                <a:latin typeface="Calibri"/>
                <a:ea typeface="Calibri"/>
                <a:cs typeface="Calibri"/>
                <a:sym typeface="Calibri"/>
              </a:rPr>
              <a:t>Update table_name set column_name  = newvalue where condition;</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Update students set weight = 70 where student_id = 1;</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highlight>
                  <a:srgbClr val="FFFF00"/>
                </a:highlight>
                <a:latin typeface="Calibri"/>
                <a:ea typeface="Calibri"/>
                <a:cs typeface="Calibri"/>
                <a:sym typeface="Calibri"/>
              </a:rPr>
              <a:t>Note</a:t>
            </a:r>
            <a:r>
              <a:rPr lang="en-US" sz="1800">
                <a:solidFill>
                  <a:schemeClr val="dk1"/>
                </a:solidFill>
                <a:latin typeface="Calibri"/>
                <a:ea typeface="Calibri"/>
                <a:cs typeface="Calibri"/>
                <a:sym typeface="Calibri"/>
              </a:rPr>
              <a:t>: Make sure you are giving some unique identifier in the where clause for system to understand which row to update  otherwise system will update  all the rows for that column.</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222" name="Google Shape;222;p19"/>
          <p:cNvPicPr preferRelativeResize="0"/>
          <p:nvPr/>
        </p:nvPicPr>
        <p:blipFill rotWithShape="1">
          <a:blip r:embed="rId3">
            <a:alphaModFix/>
          </a:blip>
          <a:srcRect b="0" l="0" r="0" t="0"/>
          <a:stretch/>
        </p:blipFill>
        <p:spPr>
          <a:xfrm>
            <a:off x="8020775" y="2147925"/>
            <a:ext cx="3572120" cy="134046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6" name="Shape 226"/>
        <p:cNvGrpSpPr/>
        <p:nvPr/>
      </p:nvGrpSpPr>
      <p:grpSpPr>
        <a:xfrm>
          <a:off x="0" y="0"/>
          <a:ext cx="0" cy="0"/>
          <a:chOff x="0" y="0"/>
          <a:chExt cx="0" cy="0"/>
        </a:xfrm>
      </p:grpSpPr>
      <p:sp>
        <p:nvSpPr>
          <p:cNvPr id="227" name="Google Shape;227;p20"/>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8" name="Google Shape;228;p20"/>
          <p:cNvSpPr/>
          <p:nvPr/>
        </p:nvSpPr>
        <p:spPr>
          <a:xfrm flipH="1">
            <a:off x="8576720" y="3335867"/>
            <a:ext cx="3291840" cy="3200400"/>
          </a:xfrm>
          <a:prstGeom prst="rtTriangle">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9" name="Google Shape;229;p20"/>
          <p:cNvSpPr/>
          <p:nvPr/>
        </p:nvSpPr>
        <p:spPr>
          <a:xfrm>
            <a:off x="641774" y="623275"/>
            <a:ext cx="10905053" cy="5607882"/>
          </a:xfrm>
          <a:prstGeom prst="rect">
            <a:avLst/>
          </a:prstGeom>
          <a:noFill/>
          <a:ln cap="flat" cmpd="sng" w="19050">
            <a:solidFill>
              <a:srgbClr val="3F3F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0" name="Google Shape;230;p20"/>
          <p:cNvSpPr txBox="1"/>
          <p:nvPr/>
        </p:nvSpPr>
        <p:spPr>
          <a:xfrm>
            <a:off x="1285240" y="800101"/>
            <a:ext cx="8074815" cy="4969764"/>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  Once you have updated  the data, only you and only you can see the  updated data in the table. If there are other people who have access to the same table and they try to see the data they will still see the old data as UPDATE is a DML statement and every DML statement needs to be saved in order to make the changes permanent in the table. </a:t>
            </a:r>
            <a:endParaRPr/>
          </a:p>
          <a:p>
            <a:pPr indent="127000" lvl="0" marL="0" marR="0" rtl="0" algn="l">
              <a:lnSpc>
                <a:spcPct val="90000"/>
              </a:lnSpc>
              <a:spcBef>
                <a:spcPts val="600"/>
              </a:spcBef>
              <a:spcAft>
                <a:spcPts val="0"/>
              </a:spcAft>
              <a:buClr>
                <a:schemeClr val="dk1"/>
              </a:buClr>
              <a:buSzPts val="2000"/>
              <a:buFont typeface="Arial"/>
              <a:buNone/>
            </a:pPr>
            <a:r>
              <a:t/>
            </a:r>
            <a:endParaRPr sz="2000">
              <a:solidFill>
                <a:schemeClr val="dk1"/>
              </a:solidFill>
              <a:latin typeface="Calibri"/>
              <a:ea typeface="Calibri"/>
              <a:cs typeface="Calibri"/>
              <a:sym typeface="Calibri"/>
            </a:endParaRPr>
          </a:p>
          <a:p>
            <a:pPr indent="0" lvl="0" marL="0" marR="0" rtl="0" algn="l">
              <a:lnSpc>
                <a:spcPct val="90000"/>
              </a:lnSpc>
              <a:spcBef>
                <a:spcPts val="600"/>
              </a:spcBef>
              <a:spcAft>
                <a:spcPts val="0"/>
              </a:spcAft>
              <a:buNone/>
            </a:pPr>
            <a:r>
              <a:rPr lang="en-US" sz="2000">
                <a:solidFill>
                  <a:schemeClr val="dk1"/>
                </a:solidFill>
                <a:latin typeface="Calibri"/>
                <a:ea typeface="Calibri"/>
                <a:cs typeface="Calibri"/>
                <a:sym typeface="Calibri"/>
              </a:rPr>
              <a:t>🡪 In order to save the DML statement like in this scenario the Update  statement you will write the below TCL command and execute it which acts like CTRL+S of Excel.</a:t>
            </a:r>
            <a:endParaRPr/>
          </a:p>
          <a:p>
            <a:pPr indent="127000" lvl="0" marL="0" marR="0" rtl="0" algn="l">
              <a:lnSpc>
                <a:spcPct val="90000"/>
              </a:lnSpc>
              <a:spcBef>
                <a:spcPts val="600"/>
              </a:spcBef>
              <a:spcAft>
                <a:spcPts val="0"/>
              </a:spcAft>
              <a:buClr>
                <a:schemeClr val="dk1"/>
              </a:buClr>
              <a:buSzPts val="2000"/>
              <a:buFont typeface="Arial"/>
              <a:buNone/>
            </a:pPr>
            <a:r>
              <a:t/>
            </a:r>
            <a:endParaRPr sz="2000">
              <a:solidFill>
                <a:schemeClr val="dk1"/>
              </a:solidFill>
              <a:latin typeface="Calibri"/>
              <a:ea typeface="Calibri"/>
              <a:cs typeface="Calibri"/>
              <a:sym typeface="Calibri"/>
            </a:endParaRPr>
          </a:p>
          <a:p>
            <a:pPr indent="0" lvl="0" marL="0" marR="0" rtl="0" algn="l">
              <a:lnSpc>
                <a:spcPct val="90000"/>
              </a:lnSpc>
              <a:spcBef>
                <a:spcPts val="600"/>
              </a:spcBef>
              <a:spcAft>
                <a:spcPts val="0"/>
              </a:spcAft>
              <a:buNone/>
            </a:pPr>
            <a:r>
              <a:rPr lang="en-US" sz="2000">
                <a:solidFill>
                  <a:schemeClr val="dk1"/>
                </a:solidFill>
                <a:latin typeface="Calibri"/>
                <a:ea typeface="Calibri"/>
                <a:cs typeface="Calibri"/>
                <a:sym typeface="Calibri"/>
              </a:rPr>
              <a:t>		COMMIT;</a:t>
            </a:r>
            <a:endParaRPr/>
          </a:p>
          <a:p>
            <a:pPr indent="127000" lvl="0" marL="0" marR="0" rtl="0" algn="l">
              <a:lnSpc>
                <a:spcPct val="90000"/>
              </a:lnSpc>
              <a:spcBef>
                <a:spcPts val="600"/>
              </a:spcBef>
              <a:spcAft>
                <a:spcPts val="0"/>
              </a:spcAft>
              <a:buClr>
                <a:schemeClr val="dk1"/>
              </a:buClr>
              <a:buSzPts val="2000"/>
              <a:buFont typeface="Arial"/>
              <a:buNone/>
            </a:pPr>
            <a:r>
              <a:t/>
            </a:r>
            <a:endParaRPr sz="2000">
              <a:solidFill>
                <a:schemeClr val="dk1"/>
              </a:solidFill>
              <a:latin typeface="Calibri"/>
              <a:ea typeface="Calibri"/>
              <a:cs typeface="Calibri"/>
              <a:sym typeface="Calibri"/>
            </a:endParaRPr>
          </a:p>
          <a:p>
            <a:pPr indent="0" lvl="0" marL="0" marR="0" rtl="0" algn="l">
              <a:lnSpc>
                <a:spcPct val="90000"/>
              </a:lnSpc>
              <a:spcBef>
                <a:spcPts val="600"/>
              </a:spcBef>
              <a:spcAft>
                <a:spcPts val="0"/>
              </a:spcAft>
              <a:buNone/>
            </a:pPr>
            <a:r>
              <a:rPr lang="en-US" sz="2000">
                <a:solidFill>
                  <a:schemeClr val="dk1"/>
                </a:solidFill>
                <a:latin typeface="Calibri"/>
                <a:ea typeface="Calibri"/>
                <a:cs typeface="Calibri"/>
                <a:sym typeface="Calibri"/>
              </a:rPr>
              <a:t>🡪 Let’s suppose you have updated some rows into a table and later you realized that you would not like to go ahead in saving those records so you can write the below statements which acts like CTRL+Z of Excel.</a:t>
            </a:r>
            <a:endParaRPr/>
          </a:p>
          <a:p>
            <a:pPr indent="127000" lvl="0" marL="0" marR="0" rtl="0" algn="l">
              <a:lnSpc>
                <a:spcPct val="90000"/>
              </a:lnSpc>
              <a:spcBef>
                <a:spcPts val="600"/>
              </a:spcBef>
              <a:spcAft>
                <a:spcPts val="0"/>
              </a:spcAft>
              <a:buClr>
                <a:schemeClr val="dk1"/>
              </a:buClr>
              <a:buSzPts val="2000"/>
              <a:buFont typeface="Arial"/>
              <a:buNone/>
            </a:pPr>
            <a:r>
              <a:t/>
            </a:r>
            <a:endParaRPr sz="2000">
              <a:solidFill>
                <a:schemeClr val="dk1"/>
              </a:solidFill>
              <a:latin typeface="Calibri"/>
              <a:ea typeface="Calibri"/>
              <a:cs typeface="Calibri"/>
              <a:sym typeface="Calibri"/>
            </a:endParaRPr>
          </a:p>
          <a:p>
            <a:pPr indent="0" lvl="0" marL="0" marR="0" rtl="0" algn="l">
              <a:lnSpc>
                <a:spcPct val="90000"/>
              </a:lnSpc>
              <a:spcBef>
                <a:spcPts val="600"/>
              </a:spcBef>
              <a:spcAft>
                <a:spcPts val="0"/>
              </a:spcAft>
              <a:buNone/>
            </a:pPr>
            <a:r>
              <a:rPr lang="en-US" sz="2000">
                <a:solidFill>
                  <a:schemeClr val="dk1"/>
                </a:solidFill>
                <a:latin typeface="Calibri"/>
                <a:ea typeface="Calibri"/>
                <a:cs typeface="Calibri"/>
                <a:sym typeface="Calibri"/>
              </a:rPr>
              <a:t>		ROLLBACK;</a:t>
            </a:r>
            <a:endParaRPr/>
          </a:p>
          <a:p>
            <a:pPr indent="127000" lvl="0" marL="0" marR="0" rtl="0" algn="l">
              <a:lnSpc>
                <a:spcPct val="90000"/>
              </a:lnSpc>
              <a:spcBef>
                <a:spcPts val="600"/>
              </a:spcBef>
              <a:spcAft>
                <a:spcPts val="0"/>
              </a:spcAft>
              <a:buClr>
                <a:schemeClr val="dk1"/>
              </a:buClr>
              <a:buSzPts val="2000"/>
              <a:buFont typeface="Arial"/>
              <a:buNone/>
            </a:pPr>
            <a:r>
              <a:t/>
            </a:r>
            <a:endParaRPr sz="2000">
              <a:solidFill>
                <a:schemeClr val="dk1"/>
              </a:solidFill>
              <a:latin typeface="Calibri"/>
              <a:ea typeface="Calibri"/>
              <a:cs typeface="Calibri"/>
              <a:sym typeface="Calibri"/>
            </a:endParaRPr>
          </a:p>
          <a:p>
            <a:pPr indent="127000" lvl="0" marL="0" marR="0" rtl="0" algn="l">
              <a:lnSpc>
                <a:spcPct val="90000"/>
              </a:lnSpc>
              <a:spcBef>
                <a:spcPts val="600"/>
              </a:spcBef>
              <a:spcAft>
                <a:spcPts val="0"/>
              </a:spcAft>
              <a:buClr>
                <a:schemeClr val="dk1"/>
              </a:buClr>
              <a:buSzPts val="2000"/>
              <a:buFont typeface="Arial"/>
              <a:buNone/>
            </a:pPr>
            <a:r>
              <a:t/>
            </a:r>
            <a:endParaRPr sz="20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4" name="Shape 234"/>
        <p:cNvGrpSpPr/>
        <p:nvPr/>
      </p:nvGrpSpPr>
      <p:grpSpPr>
        <a:xfrm>
          <a:off x="0" y="0"/>
          <a:ext cx="0" cy="0"/>
          <a:chOff x="0" y="0"/>
          <a:chExt cx="0" cy="0"/>
        </a:xfrm>
      </p:grpSpPr>
      <p:sp>
        <p:nvSpPr>
          <p:cNvPr id="235" name="Google Shape;235;p21"/>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6" name="Google Shape;236;p21"/>
          <p:cNvSpPr/>
          <p:nvPr/>
        </p:nvSpPr>
        <p:spPr>
          <a:xfrm>
            <a:off x="643475" y="625059"/>
            <a:ext cx="5452525" cy="5607882"/>
          </a:xfrm>
          <a:prstGeom prst="rect">
            <a:avLst/>
          </a:prstGeom>
          <a:solidFill>
            <a:srgbClr val="7F7F7F">
              <a:alpha val="2470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7" name="Google Shape;237;p21"/>
          <p:cNvSpPr/>
          <p:nvPr/>
        </p:nvSpPr>
        <p:spPr>
          <a:xfrm flipH="1">
            <a:off x="8576720" y="3335867"/>
            <a:ext cx="3291840" cy="3200400"/>
          </a:xfrm>
          <a:prstGeom prst="rtTriangle">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8" name="Google Shape;238;p21"/>
          <p:cNvSpPr/>
          <p:nvPr/>
        </p:nvSpPr>
        <p:spPr>
          <a:xfrm>
            <a:off x="641774" y="623275"/>
            <a:ext cx="10905053" cy="5607882"/>
          </a:xfrm>
          <a:prstGeom prst="rect">
            <a:avLst/>
          </a:prstGeom>
          <a:noFill/>
          <a:ln cap="flat" cmpd="sng" w="19050">
            <a:solidFill>
              <a:srgbClr val="3F3F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9" name="Google Shape;239;p21"/>
          <p:cNvSpPr txBox="1"/>
          <p:nvPr>
            <p:ph type="title"/>
          </p:nvPr>
        </p:nvSpPr>
        <p:spPr>
          <a:xfrm>
            <a:off x="1006900" y="1188637"/>
            <a:ext cx="4623363" cy="4480726"/>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rgbClr val="3F3F3F"/>
              </a:buClr>
              <a:buSzPts val="6600"/>
              <a:buFont typeface="Calibri"/>
              <a:buNone/>
            </a:pPr>
            <a:r>
              <a:rPr lang="en-US" sz="6600">
                <a:solidFill>
                  <a:srgbClr val="3F3F3F"/>
                </a:solidFill>
              </a:rPr>
              <a:t>DQL (Data Query Language)</a:t>
            </a:r>
            <a:endParaRPr/>
          </a:p>
        </p:txBody>
      </p:sp>
      <p:sp>
        <p:nvSpPr>
          <p:cNvPr id="240" name="Google Shape;240;p21"/>
          <p:cNvSpPr txBox="1"/>
          <p:nvPr>
            <p:ph idx="1" type="body"/>
          </p:nvPr>
        </p:nvSpPr>
        <p:spPr>
          <a:xfrm>
            <a:off x="6326411" y="796507"/>
            <a:ext cx="4858689" cy="5289968"/>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800"/>
              <a:buChar char="•"/>
            </a:pPr>
            <a:r>
              <a:rPr lang="en-US" sz="1800"/>
              <a:t>DQL consist of one keyword called as </a:t>
            </a:r>
            <a:r>
              <a:rPr lang="en-US" sz="1800">
                <a:highlight>
                  <a:srgbClr val="FFFF00"/>
                </a:highlight>
              </a:rPr>
              <a:t>SELECT.</a:t>
            </a:r>
            <a:endParaRPr/>
          </a:p>
          <a:p>
            <a:pPr indent="-228600" lvl="0" marL="228600" rtl="0" algn="l">
              <a:lnSpc>
                <a:spcPct val="90000"/>
              </a:lnSpc>
              <a:spcBef>
                <a:spcPts val="1000"/>
              </a:spcBef>
              <a:spcAft>
                <a:spcPts val="0"/>
              </a:spcAft>
              <a:buClr>
                <a:schemeClr val="dk1"/>
              </a:buClr>
              <a:buSzPts val="1800"/>
              <a:buChar char="•"/>
            </a:pPr>
            <a:r>
              <a:rPr lang="en-US" sz="1800"/>
              <a:t>Whenever we want to query the data from the table in a database we will make use of the SELECT statement.</a:t>
            </a:r>
            <a:endParaRPr/>
          </a:p>
          <a:p>
            <a:pPr indent="-228600" lvl="0" marL="228600" rtl="0" algn="l">
              <a:lnSpc>
                <a:spcPct val="90000"/>
              </a:lnSpc>
              <a:spcBef>
                <a:spcPts val="1000"/>
              </a:spcBef>
              <a:spcAft>
                <a:spcPts val="0"/>
              </a:spcAft>
              <a:buClr>
                <a:schemeClr val="dk1"/>
              </a:buClr>
              <a:buSzPts val="1800"/>
              <a:buChar char="•"/>
            </a:pPr>
            <a:r>
              <a:rPr lang="en-US" sz="1800"/>
              <a:t>If you would like to see all the data in a table in a database you can write the below query (* represents all) which means you will be able to see all the rows and columns in your data.</a:t>
            </a:r>
            <a:endParaRPr/>
          </a:p>
          <a:p>
            <a:pPr indent="-228600" lvl="0" marL="228600" rtl="0" algn="l">
              <a:lnSpc>
                <a:spcPct val="90000"/>
              </a:lnSpc>
              <a:spcBef>
                <a:spcPts val="1000"/>
              </a:spcBef>
              <a:spcAft>
                <a:spcPts val="0"/>
              </a:spcAft>
              <a:buClr>
                <a:schemeClr val="dk1"/>
              </a:buClr>
              <a:buSzPts val="1800"/>
              <a:buChar char="•"/>
            </a:pPr>
            <a:r>
              <a:rPr lang="en-US" sz="1800"/>
              <a:t>If you want to see only limited columns you need to write all the column names separated by comma in front of select statement.</a:t>
            </a:r>
            <a:endParaRPr/>
          </a:p>
          <a:p>
            <a:pPr indent="0" lvl="1" marL="457200" rtl="0" algn="l">
              <a:lnSpc>
                <a:spcPct val="90000"/>
              </a:lnSpc>
              <a:spcBef>
                <a:spcPts val="500"/>
              </a:spcBef>
              <a:spcAft>
                <a:spcPts val="0"/>
              </a:spcAft>
              <a:buClr>
                <a:schemeClr val="dk1"/>
              </a:buClr>
              <a:buSzPts val="1800"/>
              <a:buNone/>
            </a:pPr>
            <a:r>
              <a:t/>
            </a:r>
            <a:endParaRPr sz="1800"/>
          </a:p>
          <a:p>
            <a:pPr indent="0" lvl="1" marL="457200" rtl="0" algn="l">
              <a:lnSpc>
                <a:spcPct val="90000"/>
              </a:lnSpc>
              <a:spcBef>
                <a:spcPts val="500"/>
              </a:spcBef>
              <a:spcAft>
                <a:spcPts val="0"/>
              </a:spcAft>
              <a:buClr>
                <a:schemeClr val="dk1"/>
              </a:buClr>
              <a:buSzPts val="1800"/>
              <a:buNone/>
            </a:pPr>
            <a:r>
              <a:rPr lang="en-US" sz="1800"/>
              <a:t>Synatx : </a:t>
            </a:r>
            <a:endParaRPr/>
          </a:p>
          <a:p>
            <a:pPr indent="0" lvl="1" marL="457200" rtl="0" algn="l">
              <a:lnSpc>
                <a:spcPct val="90000"/>
              </a:lnSpc>
              <a:spcBef>
                <a:spcPts val="500"/>
              </a:spcBef>
              <a:spcAft>
                <a:spcPts val="0"/>
              </a:spcAft>
              <a:buClr>
                <a:schemeClr val="dk1"/>
              </a:buClr>
              <a:buSzPts val="1800"/>
              <a:buNone/>
            </a:pPr>
            <a:r>
              <a:rPr lang="en-US" sz="1800"/>
              <a:t>	Select * from table_name;</a:t>
            </a:r>
            <a:endParaRPr/>
          </a:p>
          <a:p>
            <a:pPr indent="0" lvl="1" marL="457200" rtl="0" algn="l">
              <a:lnSpc>
                <a:spcPct val="90000"/>
              </a:lnSpc>
              <a:spcBef>
                <a:spcPts val="500"/>
              </a:spcBef>
              <a:spcAft>
                <a:spcPts val="0"/>
              </a:spcAft>
              <a:buClr>
                <a:schemeClr val="dk1"/>
              </a:buClr>
              <a:buSzPts val="1800"/>
              <a:buNone/>
            </a:pPr>
            <a:r>
              <a:rPr lang="en-US" sz="1800"/>
              <a:t>	Select col1, col2,col3 from table_name;</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4" name="Shape 244"/>
        <p:cNvGrpSpPr/>
        <p:nvPr/>
      </p:nvGrpSpPr>
      <p:grpSpPr>
        <a:xfrm>
          <a:off x="0" y="0"/>
          <a:ext cx="0" cy="0"/>
          <a:chOff x="0" y="0"/>
          <a:chExt cx="0" cy="0"/>
        </a:xfrm>
      </p:grpSpPr>
      <p:sp>
        <p:nvSpPr>
          <p:cNvPr id="245" name="Google Shape;245;p22"/>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6" name="Google Shape;246;p22"/>
          <p:cNvSpPr/>
          <p:nvPr/>
        </p:nvSpPr>
        <p:spPr>
          <a:xfrm>
            <a:off x="643475" y="625059"/>
            <a:ext cx="5452525" cy="5607882"/>
          </a:xfrm>
          <a:prstGeom prst="rect">
            <a:avLst/>
          </a:prstGeom>
          <a:solidFill>
            <a:srgbClr val="7F7F7F">
              <a:alpha val="2470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7" name="Google Shape;247;p22"/>
          <p:cNvSpPr/>
          <p:nvPr/>
        </p:nvSpPr>
        <p:spPr>
          <a:xfrm flipH="1">
            <a:off x="8576720" y="3335867"/>
            <a:ext cx="3291840" cy="3200400"/>
          </a:xfrm>
          <a:prstGeom prst="rtTriangle">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8" name="Google Shape;248;p22"/>
          <p:cNvSpPr/>
          <p:nvPr/>
        </p:nvSpPr>
        <p:spPr>
          <a:xfrm>
            <a:off x="641774" y="623275"/>
            <a:ext cx="10905053" cy="5607882"/>
          </a:xfrm>
          <a:prstGeom prst="rect">
            <a:avLst/>
          </a:prstGeom>
          <a:noFill/>
          <a:ln cap="flat" cmpd="sng" w="19050">
            <a:solidFill>
              <a:srgbClr val="3F3F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9" name="Google Shape;249;p22"/>
          <p:cNvSpPr txBox="1"/>
          <p:nvPr>
            <p:ph type="title"/>
          </p:nvPr>
        </p:nvSpPr>
        <p:spPr>
          <a:xfrm>
            <a:off x="1006900" y="1188637"/>
            <a:ext cx="4623363" cy="4480726"/>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rgbClr val="3F3F3F"/>
              </a:buClr>
              <a:buSzPts val="6600"/>
              <a:buFont typeface="Calibri"/>
              <a:buNone/>
            </a:pPr>
            <a:r>
              <a:rPr lang="en-US" sz="6600">
                <a:solidFill>
                  <a:srgbClr val="3F3F3F"/>
                </a:solidFill>
              </a:rPr>
              <a:t>DCL (Data Control Language)</a:t>
            </a:r>
            <a:endParaRPr/>
          </a:p>
        </p:txBody>
      </p:sp>
      <p:sp>
        <p:nvSpPr>
          <p:cNvPr id="250" name="Google Shape;250;p22"/>
          <p:cNvSpPr txBox="1"/>
          <p:nvPr>
            <p:ph idx="1" type="body"/>
          </p:nvPr>
        </p:nvSpPr>
        <p:spPr>
          <a:xfrm>
            <a:off x="6577584" y="1312985"/>
            <a:ext cx="3953775" cy="4918172"/>
          </a:xfrm>
          <a:prstGeom prst="rect">
            <a:avLst/>
          </a:prstGeom>
          <a:noFill/>
          <a:ln>
            <a:noFill/>
          </a:ln>
        </p:spPr>
        <p:txBody>
          <a:bodyPr anchorCtr="0" anchor="ctr"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000"/>
              <a:buChar char="•"/>
            </a:pPr>
            <a:r>
              <a:rPr lang="en-US" sz="2000"/>
              <a:t>DCL languages are used to control the user access to database, tables and other objects in the databases.</a:t>
            </a:r>
            <a:endParaRPr/>
          </a:p>
          <a:p>
            <a:pPr indent="0" lvl="0" marL="0" rtl="0" algn="l">
              <a:lnSpc>
                <a:spcPct val="90000"/>
              </a:lnSpc>
              <a:spcBef>
                <a:spcPts val="1000"/>
              </a:spcBef>
              <a:spcAft>
                <a:spcPts val="0"/>
              </a:spcAft>
              <a:buClr>
                <a:schemeClr val="dk1"/>
              </a:buClr>
              <a:buSzPts val="2000"/>
              <a:buNone/>
            </a:pPr>
            <a:r>
              <a:t/>
            </a:r>
            <a:endParaRPr sz="2000"/>
          </a:p>
          <a:p>
            <a:pPr indent="-228600" lvl="0" marL="228600" rtl="0" algn="l">
              <a:lnSpc>
                <a:spcPct val="90000"/>
              </a:lnSpc>
              <a:spcBef>
                <a:spcPts val="1000"/>
              </a:spcBef>
              <a:spcAft>
                <a:spcPts val="0"/>
              </a:spcAft>
              <a:buClr>
                <a:schemeClr val="dk1"/>
              </a:buClr>
              <a:buSzPts val="2000"/>
              <a:buChar char="•"/>
            </a:pPr>
            <a:r>
              <a:rPr lang="en-US" sz="2000"/>
              <a:t>DCL consist of two keywords</a:t>
            </a:r>
            <a:endParaRPr/>
          </a:p>
          <a:p>
            <a:pPr indent="0" lvl="0" marL="0" rtl="0" algn="l">
              <a:lnSpc>
                <a:spcPct val="90000"/>
              </a:lnSpc>
              <a:spcBef>
                <a:spcPts val="1000"/>
              </a:spcBef>
              <a:spcAft>
                <a:spcPts val="0"/>
              </a:spcAft>
              <a:buClr>
                <a:schemeClr val="dk1"/>
              </a:buClr>
              <a:buSzPts val="2000"/>
              <a:buNone/>
            </a:pPr>
            <a:r>
              <a:t/>
            </a:r>
            <a:endParaRPr sz="2000"/>
          </a:p>
          <a:p>
            <a:pPr indent="-228600" lvl="1" marL="685800" rtl="0" algn="l">
              <a:lnSpc>
                <a:spcPct val="90000"/>
              </a:lnSpc>
              <a:spcBef>
                <a:spcPts val="500"/>
              </a:spcBef>
              <a:spcAft>
                <a:spcPts val="0"/>
              </a:spcAft>
              <a:buClr>
                <a:schemeClr val="dk1"/>
              </a:buClr>
              <a:buSzPts val="2000"/>
              <a:buChar char="•"/>
            </a:pPr>
            <a:r>
              <a:rPr lang="en-US" sz="2000"/>
              <a:t>GRANT – Whenever, we need to provide access to the user for database or its  objects we make use of GRANT statement.</a:t>
            </a:r>
            <a:endParaRPr/>
          </a:p>
          <a:p>
            <a:pPr indent="0" lvl="1" marL="457200" rtl="0" algn="l">
              <a:lnSpc>
                <a:spcPct val="90000"/>
              </a:lnSpc>
              <a:spcBef>
                <a:spcPts val="500"/>
              </a:spcBef>
              <a:spcAft>
                <a:spcPts val="0"/>
              </a:spcAft>
              <a:buClr>
                <a:schemeClr val="dk1"/>
              </a:buClr>
              <a:buSzPts val="2000"/>
              <a:buNone/>
            </a:pPr>
            <a:r>
              <a:t/>
            </a:r>
            <a:endParaRPr sz="2000"/>
          </a:p>
          <a:p>
            <a:pPr indent="-228600" lvl="1" marL="685800" rtl="0" algn="l">
              <a:lnSpc>
                <a:spcPct val="90000"/>
              </a:lnSpc>
              <a:spcBef>
                <a:spcPts val="500"/>
              </a:spcBef>
              <a:spcAft>
                <a:spcPts val="0"/>
              </a:spcAft>
              <a:buClr>
                <a:schemeClr val="dk1"/>
              </a:buClr>
              <a:buSzPts val="2000"/>
              <a:buChar char="•"/>
            </a:pPr>
            <a:r>
              <a:rPr lang="en-US" sz="2000"/>
              <a:t>REVOKE – Whenever, we need to withdraw the access of a user from the database or its objects we make use of REVOKE statement.</a:t>
            </a:r>
            <a:endParaRPr/>
          </a:p>
          <a:p>
            <a:pPr indent="-101600" lvl="1" marL="685800" rtl="0" algn="l">
              <a:lnSpc>
                <a:spcPct val="90000"/>
              </a:lnSpc>
              <a:spcBef>
                <a:spcPts val="500"/>
              </a:spcBef>
              <a:spcAft>
                <a:spcPts val="0"/>
              </a:spcAft>
              <a:buClr>
                <a:schemeClr val="dk1"/>
              </a:buClr>
              <a:buSzPts val="2000"/>
              <a:buNone/>
            </a:pPr>
            <a:r>
              <a:t/>
            </a:r>
            <a:endParaRPr sz="2000"/>
          </a:p>
          <a:p>
            <a:pPr indent="0" lvl="1" marL="457200" rtl="0" algn="l">
              <a:lnSpc>
                <a:spcPct val="90000"/>
              </a:lnSpc>
              <a:spcBef>
                <a:spcPts val="500"/>
              </a:spcBef>
              <a:spcAft>
                <a:spcPts val="0"/>
              </a:spcAft>
              <a:buClr>
                <a:schemeClr val="dk1"/>
              </a:buClr>
              <a:buSzPts val="2000"/>
              <a:buNone/>
            </a:pPr>
            <a:r>
              <a:t/>
            </a:r>
            <a:endParaRPr sz="20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4" name="Shape 254"/>
        <p:cNvGrpSpPr/>
        <p:nvPr/>
      </p:nvGrpSpPr>
      <p:grpSpPr>
        <a:xfrm>
          <a:off x="0" y="0"/>
          <a:ext cx="0" cy="0"/>
          <a:chOff x="0" y="0"/>
          <a:chExt cx="0" cy="0"/>
        </a:xfrm>
      </p:grpSpPr>
      <p:sp>
        <p:nvSpPr>
          <p:cNvPr id="255" name="Google Shape;255;p23"/>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6" name="Google Shape;256;p23"/>
          <p:cNvSpPr/>
          <p:nvPr/>
        </p:nvSpPr>
        <p:spPr>
          <a:xfrm>
            <a:off x="643475" y="625059"/>
            <a:ext cx="5452525" cy="5607882"/>
          </a:xfrm>
          <a:prstGeom prst="rect">
            <a:avLst/>
          </a:prstGeom>
          <a:solidFill>
            <a:srgbClr val="7F7F7F">
              <a:alpha val="2470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7" name="Google Shape;257;p23"/>
          <p:cNvSpPr/>
          <p:nvPr/>
        </p:nvSpPr>
        <p:spPr>
          <a:xfrm flipH="1">
            <a:off x="8576720" y="3335867"/>
            <a:ext cx="3291840" cy="3200400"/>
          </a:xfrm>
          <a:prstGeom prst="rtTriangle">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8" name="Google Shape;258;p23"/>
          <p:cNvSpPr/>
          <p:nvPr/>
        </p:nvSpPr>
        <p:spPr>
          <a:xfrm>
            <a:off x="641774" y="623275"/>
            <a:ext cx="10905053" cy="5607882"/>
          </a:xfrm>
          <a:prstGeom prst="rect">
            <a:avLst/>
          </a:prstGeom>
          <a:noFill/>
          <a:ln cap="flat" cmpd="sng" w="19050">
            <a:solidFill>
              <a:srgbClr val="3F3F3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9" name="Google Shape;259;p23"/>
          <p:cNvSpPr txBox="1"/>
          <p:nvPr>
            <p:ph type="title"/>
          </p:nvPr>
        </p:nvSpPr>
        <p:spPr>
          <a:xfrm>
            <a:off x="1006900" y="1188637"/>
            <a:ext cx="4623363" cy="4480726"/>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rgbClr val="3F3F3F"/>
              </a:buClr>
              <a:buSzPts val="6600"/>
              <a:buFont typeface="Calibri"/>
              <a:buNone/>
            </a:pPr>
            <a:r>
              <a:rPr lang="en-US" sz="6600">
                <a:solidFill>
                  <a:srgbClr val="3F3F3F"/>
                </a:solidFill>
              </a:rPr>
              <a:t>MySQL Data Types</a:t>
            </a:r>
            <a:endParaRPr/>
          </a:p>
        </p:txBody>
      </p:sp>
      <p:sp>
        <p:nvSpPr>
          <p:cNvPr id="260" name="Google Shape;260;p23"/>
          <p:cNvSpPr txBox="1"/>
          <p:nvPr>
            <p:ph idx="1" type="body"/>
          </p:nvPr>
        </p:nvSpPr>
        <p:spPr>
          <a:xfrm>
            <a:off x="6577584" y="842963"/>
            <a:ext cx="4607516" cy="5072062"/>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700"/>
              <a:buChar char="•"/>
            </a:pPr>
            <a:r>
              <a:rPr lang="en-US" sz="1700"/>
              <a:t>MySQL supports a wide variety of data types. Some of the most commonly used data types are listed below.</a:t>
            </a:r>
            <a:endParaRPr/>
          </a:p>
          <a:p>
            <a:pPr indent="-120650" lvl="0" marL="228600" rtl="0" algn="l">
              <a:lnSpc>
                <a:spcPct val="90000"/>
              </a:lnSpc>
              <a:spcBef>
                <a:spcPts val="1000"/>
              </a:spcBef>
              <a:spcAft>
                <a:spcPts val="0"/>
              </a:spcAft>
              <a:buClr>
                <a:schemeClr val="dk1"/>
              </a:buClr>
              <a:buSzPts val="1700"/>
              <a:buNone/>
            </a:pPr>
            <a:r>
              <a:t/>
            </a:r>
            <a:endParaRPr sz="1700"/>
          </a:p>
          <a:p>
            <a:pPr indent="-228600" lvl="1" marL="685800" rtl="0" algn="l">
              <a:lnSpc>
                <a:spcPct val="90000"/>
              </a:lnSpc>
              <a:spcBef>
                <a:spcPts val="500"/>
              </a:spcBef>
              <a:spcAft>
                <a:spcPts val="0"/>
              </a:spcAft>
              <a:buClr>
                <a:schemeClr val="dk1"/>
              </a:buClr>
              <a:buSzPts val="1700"/>
              <a:buChar char="•"/>
            </a:pPr>
            <a:r>
              <a:rPr lang="en-US" sz="1700"/>
              <a:t>NUMERIC</a:t>
            </a:r>
            <a:endParaRPr/>
          </a:p>
          <a:p>
            <a:pPr indent="-228600" lvl="1" marL="685800" rtl="0" algn="l">
              <a:lnSpc>
                <a:spcPct val="90000"/>
              </a:lnSpc>
              <a:spcBef>
                <a:spcPts val="500"/>
              </a:spcBef>
              <a:spcAft>
                <a:spcPts val="0"/>
              </a:spcAft>
              <a:buClr>
                <a:schemeClr val="dk1"/>
              </a:buClr>
              <a:buSzPts val="1700"/>
              <a:buChar char="•"/>
            </a:pPr>
            <a:r>
              <a:rPr lang="en-US" sz="1700"/>
              <a:t>DATE</a:t>
            </a:r>
            <a:endParaRPr/>
          </a:p>
          <a:p>
            <a:pPr indent="-228600" lvl="1" marL="685800" rtl="0" algn="l">
              <a:lnSpc>
                <a:spcPct val="90000"/>
              </a:lnSpc>
              <a:spcBef>
                <a:spcPts val="500"/>
              </a:spcBef>
              <a:spcAft>
                <a:spcPts val="0"/>
              </a:spcAft>
              <a:buClr>
                <a:schemeClr val="dk1"/>
              </a:buClr>
              <a:buSzPts val="1700"/>
              <a:buChar char="•"/>
            </a:pPr>
            <a:r>
              <a:rPr lang="en-US" sz="1700"/>
              <a:t>DATETIME</a:t>
            </a:r>
            <a:endParaRPr/>
          </a:p>
          <a:p>
            <a:pPr indent="-228600" lvl="1" marL="685800" rtl="0" algn="l">
              <a:lnSpc>
                <a:spcPct val="90000"/>
              </a:lnSpc>
              <a:spcBef>
                <a:spcPts val="500"/>
              </a:spcBef>
              <a:spcAft>
                <a:spcPts val="0"/>
              </a:spcAft>
              <a:buClr>
                <a:schemeClr val="dk1"/>
              </a:buClr>
              <a:buSzPts val="1700"/>
              <a:buChar char="•"/>
            </a:pPr>
            <a:r>
              <a:rPr lang="en-US" sz="1700"/>
              <a:t>TIMESTAMP</a:t>
            </a:r>
            <a:endParaRPr/>
          </a:p>
          <a:p>
            <a:pPr indent="-228600" lvl="1" marL="685800" rtl="0" algn="l">
              <a:lnSpc>
                <a:spcPct val="90000"/>
              </a:lnSpc>
              <a:spcBef>
                <a:spcPts val="500"/>
              </a:spcBef>
              <a:spcAft>
                <a:spcPts val="0"/>
              </a:spcAft>
              <a:buClr>
                <a:schemeClr val="dk1"/>
              </a:buClr>
              <a:buSzPts val="1700"/>
              <a:buChar char="•"/>
            </a:pPr>
            <a:r>
              <a:rPr lang="en-US" sz="1700"/>
              <a:t>STRING</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4" name="Shape 264"/>
        <p:cNvGrpSpPr/>
        <p:nvPr/>
      </p:nvGrpSpPr>
      <p:grpSpPr>
        <a:xfrm>
          <a:off x="0" y="0"/>
          <a:ext cx="0" cy="0"/>
          <a:chOff x="0" y="0"/>
          <a:chExt cx="0" cy="0"/>
        </a:xfrm>
      </p:grpSpPr>
      <p:sp>
        <p:nvSpPr>
          <p:cNvPr id="265" name="Google Shape;265;p24"/>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6" name="Google Shape;266;p24"/>
          <p:cNvSpPr/>
          <p:nvPr/>
        </p:nvSpPr>
        <p:spPr>
          <a:xfrm>
            <a:off x="0" y="4940492"/>
            <a:ext cx="12192000" cy="1924333"/>
          </a:xfrm>
          <a:custGeom>
            <a:rect b="b" l="l" r="r" t="t"/>
            <a:pathLst>
              <a:path extrusionOk="0" h="1924333" w="12192000">
                <a:moveTo>
                  <a:pt x="6189199" y="588"/>
                </a:moveTo>
                <a:cubicBezTo>
                  <a:pt x="6196356" y="-574"/>
                  <a:pt x="6202609" y="-108"/>
                  <a:pt x="6207079" y="2850"/>
                </a:cubicBezTo>
                <a:cubicBezTo>
                  <a:pt x="6222026" y="2749"/>
                  <a:pt x="6273489" y="3767"/>
                  <a:pt x="6285610" y="18131"/>
                </a:cubicBezTo>
                <a:cubicBezTo>
                  <a:pt x="6307255" y="18685"/>
                  <a:pt x="6357141" y="23793"/>
                  <a:pt x="6378008" y="24625"/>
                </a:cubicBezTo>
                <a:cubicBezTo>
                  <a:pt x="6409946" y="30645"/>
                  <a:pt x="6438307" y="10375"/>
                  <a:pt x="6466340" y="21366"/>
                </a:cubicBezTo>
                <a:cubicBezTo>
                  <a:pt x="6488276" y="31229"/>
                  <a:pt x="6529854" y="28110"/>
                  <a:pt x="6553334" y="35307"/>
                </a:cubicBezTo>
                <a:cubicBezTo>
                  <a:pt x="6561737" y="48059"/>
                  <a:pt x="6609188" y="62087"/>
                  <a:pt x="6626068" y="58045"/>
                </a:cubicBezTo>
                <a:cubicBezTo>
                  <a:pt x="6660952" y="66570"/>
                  <a:pt x="6666277" y="84716"/>
                  <a:pt x="6692303" y="91487"/>
                </a:cubicBezTo>
                <a:lnTo>
                  <a:pt x="6733670" y="118130"/>
                </a:lnTo>
                <a:lnTo>
                  <a:pt x="6798016" y="112271"/>
                </a:lnTo>
                <a:lnTo>
                  <a:pt x="6801081" y="114963"/>
                </a:lnTo>
                <a:cubicBezTo>
                  <a:pt x="6806919" y="120140"/>
                  <a:pt x="6812832" y="125016"/>
                  <a:pt x="6819351" y="128825"/>
                </a:cubicBezTo>
                <a:cubicBezTo>
                  <a:pt x="6825742" y="109997"/>
                  <a:pt x="6840132" y="116541"/>
                  <a:pt x="6852732" y="123321"/>
                </a:cubicBezTo>
                <a:lnTo>
                  <a:pt x="6865247" y="128836"/>
                </a:lnTo>
                <a:lnTo>
                  <a:pt x="6905517" y="129265"/>
                </a:lnTo>
                <a:cubicBezTo>
                  <a:pt x="6934052" y="140042"/>
                  <a:pt x="6939773" y="141556"/>
                  <a:pt x="6950286" y="150104"/>
                </a:cubicBezTo>
                <a:lnTo>
                  <a:pt x="7003442" y="136136"/>
                </a:lnTo>
                <a:lnTo>
                  <a:pt x="7160047" y="166721"/>
                </a:lnTo>
                <a:cubicBezTo>
                  <a:pt x="7207281" y="179911"/>
                  <a:pt x="7280644" y="210197"/>
                  <a:pt x="7325604" y="215867"/>
                </a:cubicBezTo>
                <a:cubicBezTo>
                  <a:pt x="7460113" y="233904"/>
                  <a:pt x="7393081" y="242880"/>
                  <a:pt x="7540522" y="239374"/>
                </a:cubicBezTo>
                <a:cubicBezTo>
                  <a:pt x="7545714" y="234872"/>
                  <a:pt x="7605972" y="231727"/>
                  <a:pt x="7612071" y="229553"/>
                </a:cubicBezTo>
                <a:lnTo>
                  <a:pt x="7651995" y="244567"/>
                </a:lnTo>
                <a:lnTo>
                  <a:pt x="7725761" y="258638"/>
                </a:lnTo>
                <a:lnTo>
                  <a:pt x="7823038" y="287078"/>
                </a:lnTo>
                <a:cubicBezTo>
                  <a:pt x="7837080" y="286482"/>
                  <a:pt x="7851647" y="286498"/>
                  <a:pt x="7866405" y="287288"/>
                </a:cubicBezTo>
                <a:lnTo>
                  <a:pt x="7875021" y="288224"/>
                </a:lnTo>
                <a:cubicBezTo>
                  <a:pt x="7875062" y="288354"/>
                  <a:pt x="7875105" y="288483"/>
                  <a:pt x="7875146" y="288614"/>
                </a:cubicBezTo>
                <a:cubicBezTo>
                  <a:pt x="7880550" y="289202"/>
                  <a:pt x="7901153" y="290716"/>
                  <a:pt x="7907443" y="291752"/>
                </a:cubicBezTo>
                <a:lnTo>
                  <a:pt x="7912892" y="294833"/>
                </a:lnTo>
                <a:lnTo>
                  <a:pt x="7946345" y="319359"/>
                </a:lnTo>
                <a:cubicBezTo>
                  <a:pt x="7958657" y="312776"/>
                  <a:pt x="7996513" y="309749"/>
                  <a:pt x="8021238" y="315159"/>
                </a:cubicBezTo>
                <a:cubicBezTo>
                  <a:pt x="8045964" y="320570"/>
                  <a:pt x="8058169" y="340462"/>
                  <a:pt x="8094697" y="351819"/>
                </a:cubicBezTo>
                <a:cubicBezTo>
                  <a:pt x="8129587" y="361154"/>
                  <a:pt x="8116181" y="360544"/>
                  <a:pt x="8155208" y="371168"/>
                </a:cubicBezTo>
                <a:cubicBezTo>
                  <a:pt x="8196217" y="383300"/>
                  <a:pt x="8205468" y="391801"/>
                  <a:pt x="8248472" y="400489"/>
                </a:cubicBezTo>
                <a:cubicBezTo>
                  <a:pt x="8283932" y="419791"/>
                  <a:pt x="8278617" y="392031"/>
                  <a:pt x="8300068" y="405531"/>
                </a:cubicBezTo>
                <a:lnTo>
                  <a:pt x="8356293" y="403328"/>
                </a:lnTo>
                <a:cubicBezTo>
                  <a:pt x="8377247" y="404463"/>
                  <a:pt x="8438442" y="433194"/>
                  <a:pt x="8475838" y="435524"/>
                </a:cubicBezTo>
                <a:cubicBezTo>
                  <a:pt x="8510241" y="438037"/>
                  <a:pt x="8545511" y="449840"/>
                  <a:pt x="8575216" y="450198"/>
                </a:cubicBezTo>
                <a:lnTo>
                  <a:pt x="8588650" y="447070"/>
                </a:lnTo>
                <a:lnTo>
                  <a:pt x="8612184" y="439577"/>
                </a:lnTo>
                <a:lnTo>
                  <a:pt x="8630713" y="433015"/>
                </a:lnTo>
                <a:cubicBezTo>
                  <a:pt x="8635870" y="429519"/>
                  <a:pt x="8700685" y="428411"/>
                  <a:pt x="8704240" y="422865"/>
                </a:cubicBezTo>
                <a:cubicBezTo>
                  <a:pt x="8761777" y="429549"/>
                  <a:pt x="8768302" y="427178"/>
                  <a:pt x="8829513" y="429389"/>
                </a:cubicBezTo>
                <a:cubicBezTo>
                  <a:pt x="8922895" y="444672"/>
                  <a:pt x="8924579" y="401507"/>
                  <a:pt x="9083651" y="390744"/>
                </a:cubicBezTo>
                <a:cubicBezTo>
                  <a:pt x="9138403" y="388032"/>
                  <a:pt x="9315003" y="378647"/>
                  <a:pt x="9371402" y="371809"/>
                </a:cubicBezTo>
                <a:cubicBezTo>
                  <a:pt x="9358632" y="337502"/>
                  <a:pt x="9402842" y="379364"/>
                  <a:pt x="9429586" y="369213"/>
                </a:cubicBezTo>
                <a:cubicBezTo>
                  <a:pt x="9449312" y="370213"/>
                  <a:pt x="9473938" y="373270"/>
                  <a:pt x="9489757" y="377814"/>
                </a:cubicBezTo>
                <a:cubicBezTo>
                  <a:pt x="9498164" y="379256"/>
                  <a:pt x="9507139" y="379272"/>
                  <a:pt x="9516954" y="376991"/>
                </a:cubicBezTo>
                <a:cubicBezTo>
                  <a:pt x="9548430" y="354766"/>
                  <a:pt x="9591874" y="370315"/>
                  <a:pt x="9645588" y="363590"/>
                </a:cubicBezTo>
                <a:cubicBezTo>
                  <a:pt x="9660487" y="368814"/>
                  <a:pt x="9710817" y="350550"/>
                  <a:pt x="9722896" y="360983"/>
                </a:cubicBezTo>
                <a:cubicBezTo>
                  <a:pt x="9733918" y="362239"/>
                  <a:pt x="9745201" y="356679"/>
                  <a:pt x="9752803" y="368492"/>
                </a:cubicBezTo>
                <a:cubicBezTo>
                  <a:pt x="9793268" y="374490"/>
                  <a:pt x="9843313" y="380978"/>
                  <a:pt x="9890305" y="380736"/>
                </a:cubicBezTo>
                <a:cubicBezTo>
                  <a:pt x="9912701" y="380083"/>
                  <a:pt x="9926523" y="379037"/>
                  <a:pt x="9939767" y="377776"/>
                </a:cubicBezTo>
                <a:lnTo>
                  <a:pt x="9944355" y="377352"/>
                </a:lnTo>
                <a:lnTo>
                  <a:pt x="9953719" y="375642"/>
                </a:lnTo>
                <a:lnTo>
                  <a:pt x="9955809" y="376294"/>
                </a:lnTo>
                <a:lnTo>
                  <a:pt x="10032710" y="394940"/>
                </a:lnTo>
                <a:lnTo>
                  <a:pt x="10049925" y="404971"/>
                </a:lnTo>
                <a:lnTo>
                  <a:pt x="10112671" y="414549"/>
                </a:lnTo>
                <a:cubicBezTo>
                  <a:pt x="10169643" y="412125"/>
                  <a:pt x="10132220" y="425358"/>
                  <a:pt x="10170853" y="435168"/>
                </a:cubicBezTo>
                <a:cubicBezTo>
                  <a:pt x="10206088" y="442020"/>
                  <a:pt x="10240809" y="454081"/>
                  <a:pt x="10290184" y="448123"/>
                </a:cubicBezTo>
                <a:cubicBezTo>
                  <a:pt x="10301813" y="444919"/>
                  <a:pt x="10315233" y="449499"/>
                  <a:pt x="10320158" y="458352"/>
                </a:cubicBezTo>
                <a:cubicBezTo>
                  <a:pt x="10321006" y="459876"/>
                  <a:pt x="10321565" y="461470"/>
                  <a:pt x="10321815" y="463087"/>
                </a:cubicBezTo>
                <a:cubicBezTo>
                  <a:pt x="10354058" y="457158"/>
                  <a:pt x="10355176" y="470634"/>
                  <a:pt x="10373742" y="464538"/>
                </a:cubicBezTo>
                <a:cubicBezTo>
                  <a:pt x="10403060" y="475292"/>
                  <a:pt x="10411841" y="497597"/>
                  <a:pt x="10428532" y="492504"/>
                </a:cubicBezTo>
                <a:cubicBezTo>
                  <a:pt x="10440561" y="500742"/>
                  <a:pt x="10446267" y="521930"/>
                  <a:pt x="10466490" y="517759"/>
                </a:cubicBezTo>
                <a:cubicBezTo>
                  <a:pt x="10464622" y="519986"/>
                  <a:pt x="10465013" y="521261"/>
                  <a:pt x="10466675" y="522076"/>
                </a:cubicBezTo>
                <a:lnTo>
                  <a:pt x="10470309" y="522792"/>
                </a:lnTo>
                <a:lnTo>
                  <a:pt x="10474138" y="519761"/>
                </a:lnTo>
                <a:cubicBezTo>
                  <a:pt x="10488888" y="509612"/>
                  <a:pt x="10484914" y="524734"/>
                  <a:pt x="10501100" y="528263"/>
                </a:cubicBezTo>
                <a:cubicBezTo>
                  <a:pt x="10508412" y="530705"/>
                  <a:pt x="10505426" y="533743"/>
                  <a:pt x="10502395" y="536393"/>
                </a:cubicBezTo>
                <a:lnTo>
                  <a:pt x="10689496" y="560233"/>
                </a:lnTo>
                <a:cubicBezTo>
                  <a:pt x="10721441" y="573640"/>
                  <a:pt x="10757547" y="582937"/>
                  <a:pt x="10788736" y="613188"/>
                </a:cubicBezTo>
                <a:cubicBezTo>
                  <a:pt x="10794510" y="621641"/>
                  <a:pt x="10807098" y="616073"/>
                  <a:pt x="10819747" y="621351"/>
                </a:cubicBezTo>
                <a:cubicBezTo>
                  <a:pt x="10832398" y="626630"/>
                  <a:pt x="10846356" y="639592"/>
                  <a:pt x="10864632" y="644858"/>
                </a:cubicBezTo>
                <a:cubicBezTo>
                  <a:pt x="10895617" y="652290"/>
                  <a:pt x="10921550" y="640451"/>
                  <a:pt x="10929407" y="652945"/>
                </a:cubicBezTo>
                <a:cubicBezTo>
                  <a:pt x="10945460" y="653176"/>
                  <a:pt x="10968148" y="640553"/>
                  <a:pt x="10979412" y="654217"/>
                </a:cubicBezTo>
                <a:cubicBezTo>
                  <a:pt x="10981679" y="643737"/>
                  <a:pt x="10997287" y="663414"/>
                  <a:pt x="11006959" y="657017"/>
                </a:cubicBezTo>
                <a:cubicBezTo>
                  <a:pt x="11023230" y="659396"/>
                  <a:pt x="11051890" y="662462"/>
                  <a:pt x="11077038" y="668487"/>
                </a:cubicBezTo>
                <a:cubicBezTo>
                  <a:pt x="11097000" y="690299"/>
                  <a:pt x="11141286" y="676399"/>
                  <a:pt x="11157850" y="693164"/>
                </a:cubicBezTo>
                <a:cubicBezTo>
                  <a:pt x="11163800" y="695757"/>
                  <a:pt x="11169599" y="696942"/>
                  <a:pt x="11175276" y="697243"/>
                </a:cubicBezTo>
                <a:lnTo>
                  <a:pt x="11191131" y="696085"/>
                </a:lnTo>
                <a:lnTo>
                  <a:pt x="11195573" y="691751"/>
                </a:lnTo>
                <a:lnTo>
                  <a:pt x="11205299" y="693247"/>
                </a:lnTo>
                <a:lnTo>
                  <a:pt x="11223770" y="690335"/>
                </a:lnTo>
                <a:cubicBezTo>
                  <a:pt x="11237778" y="693777"/>
                  <a:pt x="11256852" y="701947"/>
                  <a:pt x="11292119" y="713311"/>
                </a:cubicBezTo>
                <a:cubicBezTo>
                  <a:pt x="11334878" y="733451"/>
                  <a:pt x="11401662" y="729175"/>
                  <a:pt x="11435379" y="758519"/>
                </a:cubicBezTo>
                <a:lnTo>
                  <a:pt x="11604406" y="810476"/>
                </a:lnTo>
                <a:lnTo>
                  <a:pt x="11652155" y="825109"/>
                </a:lnTo>
                <a:lnTo>
                  <a:pt x="11654192" y="827301"/>
                </a:lnTo>
                <a:cubicBezTo>
                  <a:pt x="11661650" y="834729"/>
                  <a:pt x="11669215" y="841480"/>
                  <a:pt x="11676599" y="846628"/>
                </a:cubicBezTo>
                <a:cubicBezTo>
                  <a:pt x="11688258" y="861760"/>
                  <a:pt x="11752266" y="896888"/>
                  <a:pt x="11775168" y="890664"/>
                </a:cubicBezTo>
                <a:cubicBezTo>
                  <a:pt x="11790977" y="883819"/>
                  <a:pt x="11808364" y="879901"/>
                  <a:pt x="11826341" y="877558"/>
                </a:cubicBezTo>
                <a:lnTo>
                  <a:pt x="11879068" y="874038"/>
                </a:lnTo>
                <a:lnTo>
                  <a:pt x="11889563" y="878619"/>
                </a:lnTo>
                <a:lnTo>
                  <a:pt x="12016613" y="886111"/>
                </a:lnTo>
                <a:lnTo>
                  <a:pt x="12108292" y="868500"/>
                </a:lnTo>
                <a:cubicBezTo>
                  <a:pt x="12129725" y="867311"/>
                  <a:pt x="12157891" y="874537"/>
                  <a:pt x="12182910" y="882003"/>
                </a:cubicBezTo>
                <a:lnTo>
                  <a:pt x="12192000" y="884778"/>
                </a:lnTo>
                <a:lnTo>
                  <a:pt x="12192000" y="1610315"/>
                </a:lnTo>
                <a:lnTo>
                  <a:pt x="12191998" y="1610315"/>
                </a:lnTo>
                <a:lnTo>
                  <a:pt x="12191998" y="1924333"/>
                </a:lnTo>
                <a:lnTo>
                  <a:pt x="0" y="1924333"/>
                </a:lnTo>
                <a:lnTo>
                  <a:pt x="0" y="505159"/>
                </a:lnTo>
                <a:lnTo>
                  <a:pt x="5722" y="508889"/>
                </a:lnTo>
                <a:cubicBezTo>
                  <a:pt x="21614" y="518548"/>
                  <a:pt x="33814" y="524781"/>
                  <a:pt x="38476" y="524137"/>
                </a:cubicBezTo>
                <a:cubicBezTo>
                  <a:pt x="99229" y="544180"/>
                  <a:pt x="142010" y="538457"/>
                  <a:pt x="192883" y="545272"/>
                </a:cubicBezTo>
                <a:cubicBezTo>
                  <a:pt x="277629" y="525210"/>
                  <a:pt x="293434" y="558443"/>
                  <a:pt x="343710" y="565029"/>
                </a:cubicBezTo>
                <a:cubicBezTo>
                  <a:pt x="383094" y="555729"/>
                  <a:pt x="425462" y="556271"/>
                  <a:pt x="471066" y="549837"/>
                </a:cubicBezTo>
                <a:cubicBezTo>
                  <a:pt x="513583" y="544428"/>
                  <a:pt x="569194" y="531004"/>
                  <a:pt x="617333" y="526428"/>
                </a:cubicBezTo>
                <a:cubicBezTo>
                  <a:pt x="660031" y="520760"/>
                  <a:pt x="696675" y="523882"/>
                  <a:pt x="725203" y="523793"/>
                </a:cubicBezTo>
                <a:cubicBezTo>
                  <a:pt x="736650" y="521695"/>
                  <a:pt x="780513" y="502146"/>
                  <a:pt x="788494" y="505799"/>
                </a:cubicBezTo>
                <a:lnTo>
                  <a:pt x="885977" y="526585"/>
                </a:lnTo>
                <a:cubicBezTo>
                  <a:pt x="906140" y="522837"/>
                  <a:pt x="917203" y="532232"/>
                  <a:pt x="932142" y="528005"/>
                </a:cubicBezTo>
                <a:cubicBezTo>
                  <a:pt x="963701" y="524128"/>
                  <a:pt x="1061555" y="499582"/>
                  <a:pt x="1090404" y="498299"/>
                </a:cubicBezTo>
                <a:cubicBezTo>
                  <a:pt x="1132840" y="494057"/>
                  <a:pt x="1148476" y="496041"/>
                  <a:pt x="1188628" y="483151"/>
                </a:cubicBezTo>
                <a:cubicBezTo>
                  <a:pt x="1230397" y="468408"/>
                  <a:pt x="1278711" y="457638"/>
                  <a:pt x="1316247" y="425979"/>
                </a:cubicBezTo>
                <a:cubicBezTo>
                  <a:pt x="1322662" y="417251"/>
                  <a:pt x="1339433" y="418553"/>
                  <a:pt x="1357712" y="416549"/>
                </a:cubicBezTo>
                <a:cubicBezTo>
                  <a:pt x="1375991" y="414544"/>
                  <a:pt x="1423507" y="412949"/>
                  <a:pt x="1425921" y="413953"/>
                </a:cubicBezTo>
                <a:cubicBezTo>
                  <a:pt x="1450272" y="407937"/>
                  <a:pt x="1458223" y="388156"/>
                  <a:pt x="1503817" y="380457"/>
                </a:cubicBezTo>
                <a:cubicBezTo>
                  <a:pt x="1541095" y="377398"/>
                  <a:pt x="1605565" y="376357"/>
                  <a:pt x="1639196" y="372785"/>
                </a:cubicBezTo>
                <a:cubicBezTo>
                  <a:pt x="1653280" y="376736"/>
                  <a:pt x="1695289" y="365766"/>
                  <a:pt x="1705606" y="359023"/>
                </a:cubicBezTo>
                <a:cubicBezTo>
                  <a:pt x="1729169" y="336295"/>
                  <a:pt x="1793207" y="348537"/>
                  <a:pt x="1813011" y="331023"/>
                </a:cubicBezTo>
                <a:cubicBezTo>
                  <a:pt x="1820772" y="328179"/>
                  <a:pt x="1823566" y="341833"/>
                  <a:pt x="1831380" y="341307"/>
                </a:cubicBezTo>
                <a:lnTo>
                  <a:pt x="1858612" y="326777"/>
                </a:lnTo>
                <a:lnTo>
                  <a:pt x="1880661" y="335987"/>
                </a:lnTo>
                <a:lnTo>
                  <a:pt x="1941495" y="310792"/>
                </a:lnTo>
                <a:cubicBezTo>
                  <a:pt x="1978970" y="307223"/>
                  <a:pt x="1947391" y="291714"/>
                  <a:pt x="1995402" y="305480"/>
                </a:cubicBezTo>
                <a:cubicBezTo>
                  <a:pt x="2042464" y="298034"/>
                  <a:pt x="2153424" y="281146"/>
                  <a:pt x="2223864" y="266118"/>
                </a:cubicBezTo>
                <a:cubicBezTo>
                  <a:pt x="2261296" y="256300"/>
                  <a:pt x="2360518" y="238323"/>
                  <a:pt x="2418043" y="215314"/>
                </a:cubicBezTo>
                <a:cubicBezTo>
                  <a:pt x="2472088" y="206823"/>
                  <a:pt x="2499422" y="162612"/>
                  <a:pt x="2558461" y="168193"/>
                </a:cubicBezTo>
                <a:cubicBezTo>
                  <a:pt x="2559660" y="164506"/>
                  <a:pt x="2592244" y="161337"/>
                  <a:pt x="2595535" y="158548"/>
                </a:cubicBezTo>
                <a:lnTo>
                  <a:pt x="2626942" y="130400"/>
                </a:lnTo>
                <a:lnTo>
                  <a:pt x="2632225" y="130446"/>
                </a:lnTo>
                <a:lnTo>
                  <a:pt x="2696856" y="128498"/>
                </a:lnTo>
                <a:lnTo>
                  <a:pt x="2759767" y="127784"/>
                </a:lnTo>
                <a:cubicBezTo>
                  <a:pt x="2770024" y="123546"/>
                  <a:pt x="2781047" y="119463"/>
                  <a:pt x="2792685" y="115710"/>
                </a:cubicBezTo>
                <a:lnTo>
                  <a:pt x="2799767" y="113754"/>
                </a:lnTo>
                <a:lnTo>
                  <a:pt x="2829799" y="120042"/>
                </a:lnTo>
                <a:lnTo>
                  <a:pt x="2890704" y="121493"/>
                </a:lnTo>
                <a:cubicBezTo>
                  <a:pt x="2935390" y="121035"/>
                  <a:pt x="2990780" y="113193"/>
                  <a:pt x="3042646" y="112273"/>
                </a:cubicBezTo>
                <a:cubicBezTo>
                  <a:pt x="3077119" y="111474"/>
                  <a:pt x="3124089" y="100414"/>
                  <a:pt x="3146630" y="100898"/>
                </a:cubicBezTo>
                <a:cubicBezTo>
                  <a:pt x="3169381" y="117699"/>
                  <a:pt x="3224695" y="125864"/>
                  <a:pt x="3233163" y="120200"/>
                </a:cubicBezTo>
                <a:lnTo>
                  <a:pt x="3372699" y="129394"/>
                </a:lnTo>
                <a:cubicBezTo>
                  <a:pt x="3389020" y="126586"/>
                  <a:pt x="3397563" y="116804"/>
                  <a:pt x="3394352" y="131671"/>
                </a:cubicBezTo>
                <a:cubicBezTo>
                  <a:pt x="3406102" y="131485"/>
                  <a:pt x="3429770" y="120938"/>
                  <a:pt x="3448218" y="118229"/>
                </a:cubicBezTo>
                <a:lnTo>
                  <a:pt x="3505047" y="115412"/>
                </a:lnTo>
                <a:lnTo>
                  <a:pt x="3521767" y="111071"/>
                </a:lnTo>
                <a:cubicBezTo>
                  <a:pt x="3526335" y="108877"/>
                  <a:pt x="3582156" y="117732"/>
                  <a:pt x="3585137" y="114371"/>
                </a:cubicBezTo>
                <a:cubicBezTo>
                  <a:pt x="3638265" y="102098"/>
                  <a:pt x="3633789" y="98565"/>
                  <a:pt x="3690293" y="98301"/>
                </a:cubicBezTo>
                <a:cubicBezTo>
                  <a:pt x="3782197" y="112746"/>
                  <a:pt x="3826738" y="92943"/>
                  <a:pt x="3867818" y="88985"/>
                </a:cubicBezTo>
                <a:cubicBezTo>
                  <a:pt x="3943777" y="81477"/>
                  <a:pt x="3990501" y="75194"/>
                  <a:pt x="4091337" y="70813"/>
                </a:cubicBezTo>
                <a:cubicBezTo>
                  <a:pt x="4154422" y="62932"/>
                  <a:pt x="4217060" y="45734"/>
                  <a:pt x="4246332" y="41697"/>
                </a:cubicBezTo>
                <a:cubicBezTo>
                  <a:pt x="4253308" y="42804"/>
                  <a:pt x="4260125" y="44606"/>
                  <a:pt x="4266975" y="46592"/>
                </a:cubicBezTo>
                <a:lnTo>
                  <a:pt x="4270566" y="47620"/>
                </a:lnTo>
                <a:lnTo>
                  <a:pt x="4288964" y="52766"/>
                </a:lnTo>
                <a:lnTo>
                  <a:pt x="4365137" y="51783"/>
                </a:lnTo>
                <a:lnTo>
                  <a:pt x="4430546" y="44555"/>
                </a:lnTo>
                <a:lnTo>
                  <a:pt x="4444136" y="39567"/>
                </a:lnTo>
                <a:lnTo>
                  <a:pt x="4534039" y="31604"/>
                </a:lnTo>
                <a:lnTo>
                  <a:pt x="4560448" y="25231"/>
                </a:lnTo>
                <a:lnTo>
                  <a:pt x="4568006" y="25970"/>
                </a:lnTo>
                <a:cubicBezTo>
                  <a:pt x="4580278" y="23866"/>
                  <a:pt x="4594878" y="14904"/>
                  <a:pt x="4595497" y="22958"/>
                </a:cubicBezTo>
                <a:lnTo>
                  <a:pt x="4608623" y="18108"/>
                </a:lnTo>
                <a:lnTo>
                  <a:pt x="4623942" y="22251"/>
                </a:lnTo>
                <a:cubicBezTo>
                  <a:pt x="4633227" y="23117"/>
                  <a:pt x="4655429" y="23973"/>
                  <a:pt x="4664336" y="23306"/>
                </a:cubicBezTo>
                <a:lnTo>
                  <a:pt x="4677385" y="18246"/>
                </a:lnTo>
                <a:lnTo>
                  <a:pt x="4698143" y="18036"/>
                </a:lnTo>
                <a:cubicBezTo>
                  <a:pt x="4710347" y="18931"/>
                  <a:pt x="4736189" y="22441"/>
                  <a:pt x="4750609" y="23611"/>
                </a:cubicBezTo>
                <a:cubicBezTo>
                  <a:pt x="4764270" y="27424"/>
                  <a:pt x="4774858" y="29782"/>
                  <a:pt x="4784658" y="25057"/>
                </a:cubicBezTo>
                <a:cubicBezTo>
                  <a:pt x="4804708" y="29613"/>
                  <a:pt x="4822811" y="48263"/>
                  <a:pt x="4847558" y="38726"/>
                </a:cubicBezTo>
                <a:cubicBezTo>
                  <a:pt x="4868304" y="42993"/>
                  <a:pt x="4867190" y="47939"/>
                  <a:pt x="4909134" y="50659"/>
                </a:cubicBezTo>
                <a:cubicBezTo>
                  <a:pt x="4945026" y="52455"/>
                  <a:pt x="5063406" y="54096"/>
                  <a:pt x="5099219" y="55050"/>
                </a:cubicBezTo>
                <a:cubicBezTo>
                  <a:pt x="5145195" y="57873"/>
                  <a:pt x="5163254" y="65473"/>
                  <a:pt x="5184992" y="67596"/>
                </a:cubicBezTo>
                <a:cubicBezTo>
                  <a:pt x="5206728" y="69720"/>
                  <a:pt x="5195578" y="65687"/>
                  <a:pt x="5229637" y="67789"/>
                </a:cubicBezTo>
                <a:cubicBezTo>
                  <a:pt x="5263695" y="69892"/>
                  <a:pt x="5345217" y="78854"/>
                  <a:pt x="5389346" y="80211"/>
                </a:cubicBezTo>
                <a:cubicBezTo>
                  <a:pt x="5425889" y="83191"/>
                  <a:pt x="5461943" y="84751"/>
                  <a:pt x="5494414" y="75926"/>
                </a:cubicBezTo>
                <a:lnTo>
                  <a:pt x="5528443" y="77206"/>
                </a:lnTo>
                <a:cubicBezTo>
                  <a:pt x="5582723" y="71370"/>
                  <a:pt x="5638917" y="68385"/>
                  <a:pt x="5684939" y="50269"/>
                </a:cubicBezTo>
                <a:cubicBezTo>
                  <a:pt x="5724389" y="45804"/>
                  <a:pt x="5737860" y="52916"/>
                  <a:pt x="5765146" y="50414"/>
                </a:cubicBezTo>
                <a:cubicBezTo>
                  <a:pt x="5792695" y="43060"/>
                  <a:pt x="5827352" y="38097"/>
                  <a:pt x="5848655" y="35257"/>
                </a:cubicBezTo>
                <a:lnTo>
                  <a:pt x="5930656" y="30131"/>
                </a:lnTo>
                <a:lnTo>
                  <a:pt x="6124150" y="31679"/>
                </a:lnTo>
                <a:cubicBezTo>
                  <a:pt x="6138131" y="22216"/>
                  <a:pt x="6167730" y="4075"/>
                  <a:pt x="6189199" y="588"/>
                </a:cubicBezTo>
                <a:close/>
              </a:path>
            </a:pathLst>
          </a:custGeom>
          <a:solidFill>
            <a:srgbClr val="82766A">
              <a:alpha val="14901"/>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7" name="Google Shape;267;p24"/>
          <p:cNvSpPr txBox="1"/>
          <p:nvPr>
            <p:ph type="title"/>
          </p:nvPr>
        </p:nvSpPr>
        <p:spPr>
          <a:xfrm>
            <a:off x="1255060" y="5279511"/>
            <a:ext cx="9681882" cy="73988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262626"/>
              </a:buClr>
              <a:buSzPts val="3600"/>
              <a:buFont typeface="Calibri"/>
              <a:buNone/>
            </a:pPr>
            <a:r>
              <a:rPr lang="en-US" sz="3600">
                <a:solidFill>
                  <a:srgbClr val="262626"/>
                </a:solidFill>
                <a:latin typeface="Calibri"/>
                <a:ea typeface="Calibri"/>
                <a:cs typeface="Calibri"/>
                <a:sym typeface="Calibri"/>
              </a:rPr>
              <a:t>INTEGER TYPES	</a:t>
            </a:r>
            <a:endParaRPr/>
          </a:p>
        </p:txBody>
      </p:sp>
      <p:pic>
        <p:nvPicPr>
          <p:cNvPr descr="A screenshot of a computer&#10;&#10;Description automatically generated with medium confidence" id="268" name="Google Shape;268;p24"/>
          <p:cNvPicPr preferRelativeResize="0"/>
          <p:nvPr>
            <p:ph idx="1" type="body"/>
          </p:nvPr>
        </p:nvPicPr>
        <p:blipFill rotWithShape="1">
          <a:blip r:embed="rId3">
            <a:alphaModFix/>
          </a:blip>
          <a:srcRect b="0" l="0" r="0" t="0"/>
          <a:stretch/>
        </p:blipFill>
        <p:spPr>
          <a:xfrm>
            <a:off x="714480" y="579473"/>
            <a:ext cx="10763038" cy="4224493"/>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2" name="Shape 272"/>
        <p:cNvGrpSpPr/>
        <p:nvPr/>
      </p:nvGrpSpPr>
      <p:grpSpPr>
        <a:xfrm>
          <a:off x="0" y="0"/>
          <a:ext cx="0" cy="0"/>
          <a:chOff x="0" y="0"/>
          <a:chExt cx="0" cy="0"/>
        </a:xfrm>
      </p:grpSpPr>
      <p:sp>
        <p:nvSpPr>
          <p:cNvPr id="273" name="Google Shape;273;p25"/>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4" name="Google Shape;274;p25"/>
          <p:cNvSpPr/>
          <p:nvPr/>
        </p:nvSpPr>
        <p:spPr>
          <a:xfrm>
            <a:off x="0" y="4940492"/>
            <a:ext cx="12192000" cy="1924333"/>
          </a:xfrm>
          <a:custGeom>
            <a:rect b="b" l="l" r="r" t="t"/>
            <a:pathLst>
              <a:path extrusionOk="0" h="1924333" w="12192000">
                <a:moveTo>
                  <a:pt x="6189199" y="588"/>
                </a:moveTo>
                <a:cubicBezTo>
                  <a:pt x="6196356" y="-574"/>
                  <a:pt x="6202609" y="-108"/>
                  <a:pt x="6207079" y="2850"/>
                </a:cubicBezTo>
                <a:cubicBezTo>
                  <a:pt x="6222026" y="2749"/>
                  <a:pt x="6273489" y="3767"/>
                  <a:pt x="6285610" y="18131"/>
                </a:cubicBezTo>
                <a:cubicBezTo>
                  <a:pt x="6307255" y="18685"/>
                  <a:pt x="6357141" y="23793"/>
                  <a:pt x="6378008" y="24625"/>
                </a:cubicBezTo>
                <a:cubicBezTo>
                  <a:pt x="6409946" y="30645"/>
                  <a:pt x="6438307" y="10375"/>
                  <a:pt x="6466340" y="21366"/>
                </a:cubicBezTo>
                <a:cubicBezTo>
                  <a:pt x="6488276" y="31229"/>
                  <a:pt x="6529854" y="28110"/>
                  <a:pt x="6553334" y="35307"/>
                </a:cubicBezTo>
                <a:cubicBezTo>
                  <a:pt x="6561737" y="48059"/>
                  <a:pt x="6609188" y="62087"/>
                  <a:pt x="6626068" y="58045"/>
                </a:cubicBezTo>
                <a:cubicBezTo>
                  <a:pt x="6660952" y="66570"/>
                  <a:pt x="6666277" y="84716"/>
                  <a:pt x="6692303" y="91487"/>
                </a:cubicBezTo>
                <a:lnTo>
                  <a:pt x="6733670" y="118130"/>
                </a:lnTo>
                <a:lnTo>
                  <a:pt x="6798016" y="112271"/>
                </a:lnTo>
                <a:lnTo>
                  <a:pt x="6801081" y="114963"/>
                </a:lnTo>
                <a:cubicBezTo>
                  <a:pt x="6806919" y="120140"/>
                  <a:pt x="6812832" y="125016"/>
                  <a:pt x="6819351" y="128825"/>
                </a:cubicBezTo>
                <a:cubicBezTo>
                  <a:pt x="6825742" y="109997"/>
                  <a:pt x="6840132" y="116541"/>
                  <a:pt x="6852732" y="123321"/>
                </a:cubicBezTo>
                <a:lnTo>
                  <a:pt x="6865247" y="128836"/>
                </a:lnTo>
                <a:lnTo>
                  <a:pt x="6905517" y="129265"/>
                </a:lnTo>
                <a:cubicBezTo>
                  <a:pt x="6934052" y="140042"/>
                  <a:pt x="6939773" y="141556"/>
                  <a:pt x="6950286" y="150104"/>
                </a:cubicBezTo>
                <a:lnTo>
                  <a:pt x="7003442" y="136136"/>
                </a:lnTo>
                <a:lnTo>
                  <a:pt x="7160047" y="166721"/>
                </a:lnTo>
                <a:cubicBezTo>
                  <a:pt x="7207281" y="179911"/>
                  <a:pt x="7280644" y="210197"/>
                  <a:pt x="7325604" y="215867"/>
                </a:cubicBezTo>
                <a:cubicBezTo>
                  <a:pt x="7460113" y="233904"/>
                  <a:pt x="7393081" y="242880"/>
                  <a:pt x="7540522" y="239374"/>
                </a:cubicBezTo>
                <a:cubicBezTo>
                  <a:pt x="7545714" y="234872"/>
                  <a:pt x="7605972" y="231727"/>
                  <a:pt x="7612071" y="229553"/>
                </a:cubicBezTo>
                <a:lnTo>
                  <a:pt x="7651995" y="244567"/>
                </a:lnTo>
                <a:lnTo>
                  <a:pt x="7725761" y="258638"/>
                </a:lnTo>
                <a:lnTo>
                  <a:pt x="7823038" y="287078"/>
                </a:lnTo>
                <a:cubicBezTo>
                  <a:pt x="7837080" y="286482"/>
                  <a:pt x="7851647" y="286498"/>
                  <a:pt x="7866405" y="287288"/>
                </a:cubicBezTo>
                <a:lnTo>
                  <a:pt x="7875021" y="288224"/>
                </a:lnTo>
                <a:cubicBezTo>
                  <a:pt x="7875062" y="288354"/>
                  <a:pt x="7875105" y="288483"/>
                  <a:pt x="7875146" y="288614"/>
                </a:cubicBezTo>
                <a:cubicBezTo>
                  <a:pt x="7880550" y="289202"/>
                  <a:pt x="7901153" y="290716"/>
                  <a:pt x="7907443" y="291752"/>
                </a:cubicBezTo>
                <a:lnTo>
                  <a:pt x="7912892" y="294833"/>
                </a:lnTo>
                <a:lnTo>
                  <a:pt x="7946345" y="319359"/>
                </a:lnTo>
                <a:cubicBezTo>
                  <a:pt x="7958657" y="312776"/>
                  <a:pt x="7996513" y="309749"/>
                  <a:pt x="8021238" y="315159"/>
                </a:cubicBezTo>
                <a:cubicBezTo>
                  <a:pt x="8045964" y="320570"/>
                  <a:pt x="8058169" y="340462"/>
                  <a:pt x="8094697" y="351819"/>
                </a:cubicBezTo>
                <a:cubicBezTo>
                  <a:pt x="8129587" y="361154"/>
                  <a:pt x="8116181" y="360544"/>
                  <a:pt x="8155208" y="371168"/>
                </a:cubicBezTo>
                <a:cubicBezTo>
                  <a:pt x="8196217" y="383300"/>
                  <a:pt x="8205468" y="391801"/>
                  <a:pt x="8248472" y="400489"/>
                </a:cubicBezTo>
                <a:cubicBezTo>
                  <a:pt x="8283932" y="419791"/>
                  <a:pt x="8278617" y="392031"/>
                  <a:pt x="8300068" y="405531"/>
                </a:cubicBezTo>
                <a:lnTo>
                  <a:pt x="8356293" y="403328"/>
                </a:lnTo>
                <a:cubicBezTo>
                  <a:pt x="8377247" y="404463"/>
                  <a:pt x="8438442" y="433194"/>
                  <a:pt x="8475838" y="435524"/>
                </a:cubicBezTo>
                <a:cubicBezTo>
                  <a:pt x="8510241" y="438037"/>
                  <a:pt x="8545511" y="449840"/>
                  <a:pt x="8575216" y="450198"/>
                </a:cubicBezTo>
                <a:lnTo>
                  <a:pt x="8588650" y="447070"/>
                </a:lnTo>
                <a:lnTo>
                  <a:pt x="8612184" y="439577"/>
                </a:lnTo>
                <a:lnTo>
                  <a:pt x="8630713" y="433015"/>
                </a:lnTo>
                <a:cubicBezTo>
                  <a:pt x="8635870" y="429519"/>
                  <a:pt x="8700685" y="428411"/>
                  <a:pt x="8704240" y="422865"/>
                </a:cubicBezTo>
                <a:cubicBezTo>
                  <a:pt x="8761777" y="429549"/>
                  <a:pt x="8768302" y="427178"/>
                  <a:pt x="8829513" y="429389"/>
                </a:cubicBezTo>
                <a:cubicBezTo>
                  <a:pt x="8922895" y="444672"/>
                  <a:pt x="8924579" y="401507"/>
                  <a:pt x="9083651" y="390744"/>
                </a:cubicBezTo>
                <a:cubicBezTo>
                  <a:pt x="9138403" y="388032"/>
                  <a:pt x="9315003" y="378647"/>
                  <a:pt x="9371402" y="371809"/>
                </a:cubicBezTo>
                <a:cubicBezTo>
                  <a:pt x="9358632" y="337502"/>
                  <a:pt x="9402842" y="379364"/>
                  <a:pt x="9429586" y="369213"/>
                </a:cubicBezTo>
                <a:cubicBezTo>
                  <a:pt x="9449312" y="370213"/>
                  <a:pt x="9473938" y="373270"/>
                  <a:pt x="9489757" y="377814"/>
                </a:cubicBezTo>
                <a:cubicBezTo>
                  <a:pt x="9498164" y="379256"/>
                  <a:pt x="9507139" y="379272"/>
                  <a:pt x="9516954" y="376991"/>
                </a:cubicBezTo>
                <a:cubicBezTo>
                  <a:pt x="9548430" y="354766"/>
                  <a:pt x="9591874" y="370315"/>
                  <a:pt x="9645588" y="363590"/>
                </a:cubicBezTo>
                <a:cubicBezTo>
                  <a:pt x="9660487" y="368814"/>
                  <a:pt x="9710817" y="350550"/>
                  <a:pt x="9722896" y="360983"/>
                </a:cubicBezTo>
                <a:cubicBezTo>
                  <a:pt x="9733918" y="362239"/>
                  <a:pt x="9745201" y="356679"/>
                  <a:pt x="9752803" y="368492"/>
                </a:cubicBezTo>
                <a:cubicBezTo>
                  <a:pt x="9793268" y="374490"/>
                  <a:pt x="9843313" y="380978"/>
                  <a:pt x="9890305" y="380736"/>
                </a:cubicBezTo>
                <a:cubicBezTo>
                  <a:pt x="9912701" y="380083"/>
                  <a:pt x="9926523" y="379037"/>
                  <a:pt x="9939767" y="377776"/>
                </a:cubicBezTo>
                <a:lnTo>
                  <a:pt x="9944355" y="377352"/>
                </a:lnTo>
                <a:lnTo>
                  <a:pt x="9953719" y="375642"/>
                </a:lnTo>
                <a:lnTo>
                  <a:pt x="9955809" y="376294"/>
                </a:lnTo>
                <a:lnTo>
                  <a:pt x="10032710" y="394940"/>
                </a:lnTo>
                <a:lnTo>
                  <a:pt x="10049925" y="404971"/>
                </a:lnTo>
                <a:lnTo>
                  <a:pt x="10112671" y="414549"/>
                </a:lnTo>
                <a:cubicBezTo>
                  <a:pt x="10169643" y="412125"/>
                  <a:pt x="10132220" y="425358"/>
                  <a:pt x="10170853" y="435168"/>
                </a:cubicBezTo>
                <a:cubicBezTo>
                  <a:pt x="10206088" y="442020"/>
                  <a:pt x="10240809" y="454081"/>
                  <a:pt x="10290184" y="448123"/>
                </a:cubicBezTo>
                <a:cubicBezTo>
                  <a:pt x="10301813" y="444919"/>
                  <a:pt x="10315233" y="449499"/>
                  <a:pt x="10320158" y="458352"/>
                </a:cubicBezTo>
                <a:cubicBezTo>
                  <a:pt x="10321006" y="459876"/>
                  <a:pt x="10321565" y="461470"/>
                  <a:pt x="10321815" y="463087"/>
                </a:cubicBezTo>
                <a:cubicBezTo>
                  <a:pt x="10354058" y="457158"/>
                  <a:pt x="10355176" y="470634"/>
                  <a:pt x="10373742" y="464538"/>
                </a:cubicBezTo>
                <a:cubicBezTo>
                  <a:pt x="10403060" y="475292"/>
                  <a:pt x="10411841" y="497597"/>
                  <a:pt x="10428532" y="492504"/>
                </a:cubicBezTo>
                <a:cubicBezTo>
                  <a:pt x="10440561" y="500742"/>
                  <a:pt x="10446267" y="521930"/>
                  <a:pt x="10466490" y="517759"/>
                </a:cubicBezTo>
                <a:cubicBezTo>
                  <a:pt x="10464622" y="519986"/>
                  <a:pt x="10465013" y="521261"/>
                  <a:pt x="10466675" y="522076"/>
                </a:cubicBezTo>
                <a:lnTo>
                  <a:pt x="10470309" y="522792"/>
                </a:lnTo>
                <a:lnTo>
                  <a:pt x="10474138" y="519761"/>
                </a:lnTo>
                <a:cubicBezTo>
                  <a:pt x="10488888" y="509612"/>
                  <a:pt x="10484914" y="524734"/>
                  <a:pt x="10501100" y="528263"/>
                </a:cubicBezTo>
                <a:cubicBezTo>
                  <a:pt x="10508412" y="530705"/>
                  <a:pt x="10505426" y="533743"/>
                  <a:pt x="10502395" y="536393"/>
                </a:cubicBezTo>
                <a:lnTo>
                  <a:pt x="10689496" y="560233"/>
                </a:lnTo>
                <a:cubicBezTo>
                  <a:pt x="10721441" y="573640"/>
                  <a:pt x="10757547" y="582937"/>
                  <a:pt x="10788736" y="613188"/>
                </a:cubicBezTo>
                <a:cubicBezTo>
                  <a:pt x="10794510" y="621641"/>
                  <a:pt x="10807098" y="616073"/>
                  <a:pt x="10819747" y="621351"/>
                </a:cubicBezTo>
                <a:cubicBezTo>
                  <a:pt x="10832398" y="626630"/>
                  <a:pt x="10846356" y="639592"/>
                  <a:pt x="10864632" y="644858"/>
                </a:cubicBezTo>
                <a:cubicBezTo>
                  <a:pt x="10895617" y="652290"/>
                  <a:pt x="10921550" y="640451"/>
                  <a:pt x="10929407" y="652945"/>
                </a:cubicBezTo>
                <a:cubicBezTo>
                  <a:pt x="10945460" y="653176"/>
                  <a:pt x="10968148" y="640553"/>
                  <a:pt x="10979412" y="654217"/>
                </a:cubicBezTo>
                <a:cubicBezTo>
                  <a:pt x="10981679" y="643737"/>
                  <a:pt x="10997287" y="663414"/>
                  <a:pt x="11006959" y="657017"/>
                </a:cubicBezTo>
                <a:cubicBezTo>
                  <a:pt x="11023230" y="659396"/>
                  <a:pt x="11051890" y="662462"/>
                  <a:pt x="11077038" y="668487"/>
                </a:cubicBezTo>
                <a:cubicBezTo>
                  <a:pt x="11097000" y="690299"/>
                  <a:pt x="11141286" y="676399"/>
                  <a:pt x="11157850" y="693164"/>
                </a:cubicBezTo>
                <a:cubicBezTo>
                  <a:pt x="11163800" y="695757"/>
                  <a:pt x="11169599" y="696942"/>
                  <a:pt x="11175276" y="697243"/>
                </a:cubicBezTo>
                <a:lnTo>
                  <a:pt x="11191131" y="696085"/>
                </a:lnTo>
                <a:lnTo>
                  <a:pt x="11195573" y="691751"/>
                </a:lnTo>
                <a:lnTo>
                  <a:pt x="11205299" y="693247"/>
                </a:lnTo>
                <a:lnTo>
                  <a:pt x="11223770" y="690335"/>
                </a:lnTo>
                <a:cubicBezTo>
                  <a:pt x="11237778" y="693777"/>
                  <a:pt x="11256852" y="701947"/>
                  <a:pt x="11292119" y="713311"/>
                </a:cubicBezTo>
                <a:cubicBezTo>
                  <a:pt x="11334878" y="733451"/>
                  <a:pt x="11401662" y="729175"/>
                  <a:pt x="11435379" y="758519"/>
                </a:cubicBezTo>
                <a:lnTo>
                  <a:pt x="11604406" y="810476"/>
                </a:lnTo>
                <a:lnTo>
                  <a:pt x="11652155" y="825109"/>
                </a:lnTo>
                <a:lnTo>
                  <a:pt x="11654192" y="827301"/>
                </a:lnTo>
                <a:cubicBezTo>
                  <a:pt x="11661650" y="834729"/>
                  <a:pt x="11669215" y="841480"/>
                  <a:pt x="11676599" y="846628"/>
                </a:cubicBezTo>
                <a:cubicBezTo>
                  <a:pt x="11688258" y="861760"/>
                  <a:pt x="11752266" y="896888"/>
                  <a:pt x="11775168" y="890664"/>
                </a:cubicBezTo>
                <a:cubicBezTo>
                  <a:pt x="11790977" y="883819"/>
                  <a:pt x="11808364" y="879901"/>
                  <a:pt x="11826341" y="877558"/>
                </a:cubicBezTo>
                <a:lnTo>
                  <a:pt x="11879068" y="874038"/>
                </a:lnTo>
                <a:lnTo>
                  <a:pt x="11889563" y="878619"/>
                </a:lnTo>
                <a:lnTo>
                  <a:pt x="12016613" y="886111"/>
                </a:lnTo>
                <a:lnTo>
                  <a:pt x="12108292" y="868500"/>
                </a:lnTo>
                <a:cubicBezTo>
                  <a:pt x="12129725" y="867311"/>
                  <a:pt x="12157891" y="874537"/>
                  <a:pt x="12182910" y="882003"/>
                </a:cubicBezTo>
                <a:lnTo>
                  <a:pt x="12192000" y="884778"/>
                </a:lnTo>
                <a:lnTo>
                  <a:pt x="12192000" y="1610315"/>
                </a:lnTo>
                <a:lnTo>
                  <a:pt x="12191998" y="1610315"/>
                </a:lnTo>
                <a:lnTo>
                  <a:pt x="12191998" y="1924333"/>
                </a:lnTo>
                <a:lnTo>
                  <a:pt x="0" y="1924333"/>
                </a:lnTo>
                <a:lnTo>
                  <a:pt x="0" y="505159"/>
                </a:lnTo>
                <a:lnTo>
                  <a:pt x="5722" y="508889"/>
                </a:lnTo>
                <a:cubicBezTo>
                  <a:pt x="21614" y="518548"/>
                  <a:pt x="33814" y="524781"/>
                  <a:pt x="38476" y="524137"/>
                </a:cubicBezTo>
                <a:cubicBezTo>
                  <a:pt x="99229" y="544180"/>
                  <a:pt x="142010" y="538457"/>
                  <a:pt x="192883" y="545272"/>
                </a:cubicBezTo>
                <a:cubicBezTo>
                  <a:pt x="277629" y="525210"/>
                  <a:pt x="293434" y="558443"/>
                  <a:pt x="343710" y="565029"/>
                </a:cubicBezTo>
                <a:cubicBezTo>
                  <a:pt x="383094" y="555729"/>
                  <a:pt x="425462" y="556271"/>
                  <a:pt x="471066" y="549837"/>
                </a:cubicBezTo>
                <a:cubicBezTo>
                  <a:pt x="513583" y="544428"/>
                  <a:pt x="569194" y="531004"/>
                  <a:pt x="617333" y="526428"/>
                </a:cubicBezTo>
                <a:cubicBezTo>
                  <a:pt x="660031" y="520760"/>
                  <a:pt x="696675" y="523882"/>
                  <a:pt x="725203" y="523793"/>
                </a:cubicBezTo>
                <a:cubicBezTo>
                  <a:pt x="736650" y="521695"/>
                  <a:pt x="780513" y="502146"/>
                  <a:pt x="788494" y="505799"/>
                </a:cubicBezTo>
                <a:lnTo>
                  <a:pt x="885977" y="526585"/>
                </a:lnTo>
                <a:cubicBezTo>
                  <a:pt x="906140" y="522837"/>
                  <a:pt x="917203" y="532232"/>
                  <a:pt x="932142" y="528005"/>
                </a:cubicBezTo>
                <a:cubicBezTo>
                  <a:pt x="963701" y="524128"/>
                  <a:pt x="1061555" y="499582"/>
                  <a:pt x="1090404" y="498299"/>
                </a:cubicBezTo>
                <a:cubicBezTo>
                  <a:pt x="1132840" y="494057"/>
                  <a:pt x="1148476" y="496041"/>
                  <a:pt x="1188628" y="483151"/>
                </a:cubicBezTo>
                <a:cubicBezTo>
                  <a:pt x="1230397" y="468408"/>
                  <a:pt x="1278711" y="457638"/>
                  <a:pt x="1316247" y="425979"/>
                </a:cubicBezTo>
                <a:cubicBezTo>
                  <a:pt x="1322662" y="417251"/>
                  <a:pt x="1339433" y="418553"/>
                  <a:pt x="1357712" y="416549"/>
                </a:cubicBezTo>
                <a:cubicBezTo>
                  <a:pt x="1375991" y="414544"/>
                  <a:pt x="1423507" y="412949"/>
                  <a:pt x="1425921" y="413953"/>
                </a:cubicBezTo>
                <a:cubicBezTo>
                  <a:pt x="1450272" y="407937"/>
                  <a:pt x="1458223" y="388156"/>
                  <a:pt x="1503817" y="380457"/>
                </a:cubicBezTo>
                <a:cubicBezTo>
                  <a:pt x="1541095" y="377398"/>
                  <a:pt x="1605565" y="376357"/>
                  <a:pt x="1639196" y="372785"/>
                </a:cubicBezTo>
                <a:cubicBezTo>
                  <a:pt x="1653280" y="376736"/>
                  <a:pt x="1695289" y="365766"/>
                  <a:pt x="1705606" y="359023"/>
                </a:cubicBezTo>
                <a:cubicBezTo>
                  <a:pt x="1729169" y="336295"/>
                  <a:pt x="1793207" y="348537"/>
                  <a:pt x="1813011" y="331023"/>
                </a:cubicBezTo>
                <a:cubicBezTo>
                  <a:pt x="1820772" y="328179"/>
                  <a:pt x="1823566" y="341833"/>
                  <a:pt x="1831380" y="341307"/>
                </a:cubicBezTo>
                <a:lnTo>
                  <a:pt x="1858612" y="326777"/>
                </a:lnTo>
                <a:lnTo>
                  <a:pt x="1880661" y="335987"/>
                </a:lnTo>
                <a:lnTo>
                  <a:pt x="1941495" y="310792"/>
                </a:lnTo>
                <a:cubicBezTo>
                  <a:pt x="1978970" y="307223"/>
                  <a:pt x="1947391" y="291714"/>
                  <a:pt x="1995402" y="305480"/>
                </a:cubicBezTo>
                <a:cubicBezTo>
                  <a:pt x="2042464" y="298034"/>
                  <a:pt x="2153424" y="281146"/>
                  <a:pt x="2223864" y="266118"/>
                </a:cubicBezTo>
                <a:cubicBezTo>
                  <a:pt x="2261296" y="256300"/>
                  <a:pt x="2360518" y="238323"/>
                  <a:pt x="2418043" y="215314"/>
                </a:cubicBezTo>
                <a:cubicBezTo>
                  <a:pt x="2472088" y="206823"/>
                  <a:pt x="2499422" y="162612"/>
                  <a:pt x="2558461" y="168193"/>
                </a:cubicBezTo>
                <a:cubicBezTo>
                  <a:pt x="2559660" y="164506"/>
                  <a:pt x="2592244" y="161337"/>
                  <a:pt x="2595535" y="158548"/>
                </a:cubicBezTo>
                <a:lnTo>
                  <a:pt x="2626942" y="130400"/>
                </a:lnTo>
                <a:lnTo>
                  <a:pt x="2632225" y="130446"/>
                </a:lnTo>
                <a:lnTo>
                  <a:pt x="2696856" y="128498"/>
                </a:lnTo>
                <a:lnTo>
                  <a:pt x="2759767" y="127784"/>
                </a:lnTo>
                <a:cubicBezTo>
                  <a:pt x="2770024" y="123546"/>
                  <a:pt x="2781047" y="119463"/>
                  <a:pt x="2792685" y="115710"/>
                </a:cubicBezTo>
                <a:lnTo>
                  <a:pt x="2799767" y="113754"/>
                </a:lnTo>
                <a:lnTo>
                  <a:pt x="2829799" y="120042"/>
                </a:lnTo>
                <a:lnTo>
                  <a:pt x="2890704" y="121493"/>
                </a:lnTo>
                <a:cubicBezTo>
                  <a:pt x="2935390" y="121035"/>
                  <a:pt x="2990780" y="113193"/>
                  <a:pt x="3042646" y="112273"/>
                </a:cubicBezTo>
                <a:cubicBezTo>
                  <a:pt x="3077119" y="111474"/>
                  <a:pt x="3124089" y="100414"/>
                  <a:pt x="3146630" y="100898"/>
                </a:cubicBezTo>
                <a:cubicBezTo>
                  <a:pt x="3169381" y="117699"/>
                  <a:pt x="3224695" y="125864"/>
                  <a:pt x="3233163" y="120200"/>
                </a:cubicBezTo>
                <a:lnTo>
                  <a:pt x="3372699" y="129394"/>
                </a:lnTo>
                <a:cubicBezTo>
                  <a:pt x="3389020" y="126586"/>
                  <a:pt x="3397563" y="116804"/>
                  <a:pt x="3394352" y="131671"/>
                </a:cubicBezTo>
                <a:cubicBezTo>
                  <a:pt x="3406102" y="131485"/>
                  <a:pt x="3429770" y="120938"/>
                  <a:pt x="3448218" y="118229"/>
                </a:cubicBezTo>
                <a:lnTo>
                  <a:pt x="3505047" y="115412"/>
                </a:lnTo>
                <a:lnTo>
                  <a:pt x="3521767" y="111071"/>
                </a:lnTo>
                <a:cubicBezTo>
                  <a:pt x="3526335" y="108877"/>
                  <a:pt x="3582156" y="117732"/>
                  <a:pt x="3585137" y="114371"/>
                </a:cubicBezTo>
                <a:cubicBezTo>
                  <a:pt x="3638265" y="102098"/>
                  <a:pt x="3633789" y="98565"/>
                  <a:pt x="3690293" y="98301"/>
                </a:cubicBezTo>
                <a:cubicBezTo>
                  <a:pt x="3782197" y="112746"/>
                  <a:pt x="3826738" y="92943"/>
                  <a:pt x="3867818" y="88985"/>
                </a:cubicBezTo>
                <a:cubicBezTo>
                  <a:pt x="3943777" y="81477"/>
                  <a:pt x="3990501" y="75194"/>
                  <a:pt x="4091337" y="70813"/>
                </a:cubicBezTo>
                <a:cubicBezTo>
                  <a:pt x="4154422" y="62932"/>
                  <a:pt x="4217060" y="45734"/>
                  <a:pt x="4246332" y="41697"/>
                </a:cubicBezTo>
                <a:cubicBezTo>
                  <a:pt x="4253308" y="42804"/>
                  <a:pt x="4260125" y="44606"/>
                  <a:pt x="4266975" y="46592"/>
                </a:cubicBezTo>
                <a:lnTo>
                  <a:pt x="4270566" y="47620"/>
                </a:lnTo>
                <a:lnTo>
                  <a:pt x="4288964" y="52766"/>
                </a:lnTo>
                <a:lnTo>
                  <a:pt x="4365137" y="51783"/>
                </a:lnTo>
                <a:lnTo>
                  <a:pt x="4430546" y="44555"/>
                </a:lnTo>
                <a:lnTo>
                  <a:pt x="4444136" y="39567"/>
                </a:lnTo>
                <a:lnTo>
                  <a:pt x="4534039" y="31604"/>
                </a:lnTo>
                <a:lnTo>
                  <a:pt x="4560448" y="25231"/>
                </a:lnTo>
                <a:lnTo>
                  <a:pt x="4568006" y="25970"/>
                </a:lnTo>
                <a:cubicBezTo>
                  <a:pt x="4580278" y="23866"/>
                  <a:pt x="4594878" y="14904"/>
                  <a:pt x="4595497" y="22958"/>
                </a:cubicBezTo>
                <a:lnTo>
                  <a:pt x="4608623" y="18108"/>
                </a:lnTo>
                <a:lnTo>
                  <a:pt x="4623942" y="22251"/>
                </a:lnTo>
                <a:cubicBezTo>
                  <a:pt x="4633227" y="23117"/>
                  <a:pt x="4655429" y="23973"/>
                  <a:pt x="4664336" y="23306"/>
                </a:cubicBezTo>
                <a:lnTo>
                  <a:pt x="4677385" y="18246"/>
                </a:lnTo>
                <a:lnTo>
                  <a:pt x="4698143" y="18036"/>
                </a:lnTo>
                <a:cubicBezTo>
                  <a:pt x="4710347" y="18931"/>
                  <a:pt x="4736189" y="22441"/>
                  <a:pt x="4750609" y="23611"/>
                </a:cubicBezTo>
                <a:cubicBezTo>
                  <a:pt x="4764270" y="27424"/>
                  <a:pt x="4774858" y="29782"/>
                  <a:pt x="4784658" y="25057"/>
                </a:cubicBezTo>
                <a:cubicBezTo>
                  <a:pt x="4804708" y="29613"/>
                  <a:pt x="4822811" y="48263"/>
                  <a:pt x="4847558" y="38726"/>
                </a:cubicBezTo>
                <a:cubicBezTo>
                  <a:pt x="4868304" y="42993"/>
                  <a:pt x="4867190" y="47939"/>
                  <a:pt x="4909134" y="50659"/>
                </a:cubicBezTo>
                <a:cubicBezTo>
                  <a:pt x="4945026" y="52455"/>
                  <a:pt x="5063406" y="54096"/>
                  <a:pt x="5099219" y="55050"/>
                </a:cubicBezTo>
                <a:cubicBezTo>
                  <a:pt x="5145195" y="57873"/>
                  <a:pt x="5163254" y="65473"/>
                  <a:pt x="5184992" y="67596"/>
                </a:cubicBezTo>
                <a:cubicBezTo>
                  <a:pt x="5206728" y="69720"/>
                  <a:pt x="5195578" y="65687"/>
                  <a:pt x="5229637" y="67789"/>
                </a:cubicBezTo>
                <a:cubicBezTo>
                  <a:pt x="5263695" y="69892"/>
                  <a:pt x="5345217" y="78854"/>
                  <a:pt x="5389346" y="80211"/>
                </a:cubicBezTo>
                <a:cubicBezTo>
                  <a:pt x="5425889" y="83191"/>
                  <a:pt x="5461943" y="84751"/>
                  <a:pt x="5494414" y="75926"/>
                </a:cubicBezTo>
                <a:lnTo>
                  <a:pt x="5528443" y="77206"/>
                </a:lnTo>
                <a:cubicBezTo>
                  <a:pt x="5582723" y="71370"/>
                  <a:pt x="5638917" y="68385"/>
                  <a:pt x="5684939" y="50269"/>
                </a:cubicBezTo>
                <a:cubicBezTo>
                  <a:pt x="5724389" y="45804"/>
                  <a:pt x="5737860" y="52916"/>
                  <a:pt x="5765146" y="50414"/>
                </a:cubicBezTo>
                <a:cubicBezTo>
                  <a:pt x="5792695" y="43060"/>
                  <a:pt x="5827352" y="38097"/>
                  <a:pt x="5848655" y="35257"/>
                </a:cubicBezTo>
                <a:lnTo>
                  <a:pt x="5930656" y="30131"/>
                </a:lnTo>
                <a:lnTo>
                  <a:pt x="6124150" y="31679"/>
                </a:lnTo>
                <a:cubicBezTo>
                  <a:pt x="6138131" y="22216"/>
                  <a:pt x="6167730" y="4075"/>
                  <a:pt x="6189199" y="588"/>
                </a:cubicBezTo>
                <a:close/>
              </a:path>
            </a:pathLst>
          </a:custGeom>
          <a:solidFill>
            <a:srgbClr val="82766A">
              <a:alpha val="14901"/>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5" name="Google Shape;275;p25"/>
          <p:cNvSpPr txBox="1"/>
          <p:nvPr>
            <p:ph type="title"/>
          </p:nvPr>
        </p:nvSpPr>
        <p:spPr>
          <a:xfrm>
            <a:off x="1255060" y="5279511"/>
            <a:ext cx="9681882" cy="73988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262626"/>
              </a:buClr>
              <a:buSzPts val="3600"/>
              <a:buFont typeface="Calibri"/>
              <a:buNone/>
            </a:pPr>
            <a:r>
              <a:rPr lang="en-US" sz="3600">
                <a:solidFill>
                  <a:srgbClr val="262626"/>
                </a:solidFill>
                <a:latin typeface="Calibri"/>
                <a:ea typeface="Calibri"/>
                <a:cs typeface="Calibri"/>
                <a:sym typeface="Calibri"/>
              </a:rPr>
              <a:t>FLOATING-POINT TYPES		</a:t>
            </a:r>
            <a:endParaRPr/>
          </a:p>
        </p:txBody>
      </p:sp>
      <p:pic>
        <p:nvPicPr>
          <p:cNvPr descr="A screenshot of a computer&#10;&#10;Description automatically generated with medium confidence" id="276" name="Google Shape;276;p25"/>
          <p:cNvPicPr preferRelativeResize="0"/>
          <p:nvPr>
            <p:ph idx="1" type="body"/>
          </p:nvPr>
        </p:nvPicPr>
        <p:blipFill rotWithShape="1">
          <a:blip r:embed="rId3">
            <a:alphaModFix/>
          </a:blip>
          <a:srcRect b="0" l="0" r="0" t="0"/>
          <a:stretch/>
        </p:blipFill>
        <p:spPr>
          <a:xfrm>
            <a:off x="623087" y="1118258"/>
            <a:ext cx="10945825" cy="3146923"/>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0" name="Shape 280"/>
        <p:cNvGrpSpPr/>
        <p:nvPr/>
      </p:nvGrpSpPr>
      <p:grpSpPr>
        <a:xfrm>
          <a:off x="0" y="0"/>
          <a:ext cx="0" cy="0"/>
          <a:chOff x="0" y="0"/>
          <a:chExt cx="0" cy="0"/>
        </a:xfrm>
      </p:grpSpPr>
      <p:sp>
        <p:nvSpPr>
          <p:cNvPr id="281" name="Google Shape;281;p26"/>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2" name="Google Shape;282;p26"/>
          <p:cNvSpPr/>
          <p:nvPr/>
        </p:nvSpPr>
        <p:spPr>
          <a:xfrm>
            <a:off x="0" y="4"/>
            <a:ext cx="12192000" cy="2295238"/>
          </a:xfrm>
          <a:custGeom>
            <a:rect b="b" l="l" r="r" t="t"/>
            <a:pathLst>
              <a:path extrusionOk="0" h="2079137" w="12192000">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4901"/>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3" name="Google Shape;283;p26"/>
          <p:cNvSpPr txBox="1"/>
          <p:nvPr>
            <p:ph type="title"/>
          </p:nvPr>
        </p:nvSpPr>
        <p:spPr>
          <a:xfrm>
            <a:off x="1137036" y="548640"/>
            <a:ext cx="9543405" cy="118872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62626"/>
              </a:buClr>
              <a:buSzPts val="4400"/>
              <a:buFont typeface="Calibri"/>
              <a:buNone/>
            </a:pPr>
            <a:r>
              <a:rPr lang="en-US">
                <a:solidFill>
                  <a:srgbClr val="262626"/>
                </a:solidFill>
              </a:rPr>
              <a:t>Fixed – Point Types	</a:t>
            </a:r>
            <a:endParaRPr/>
          </a:p>
        </p:txBody>
      </p:sp>
      <p:sp>
        <p:nvSpPr>
          <p:cNvPr id="284" name="Google Shape;284;p26"/>
          <p:cNvSpPr txBox="1"/>
          <p:nvPr>
            <p:ph idx="1" type="body"/>
          </p:nvPr>
        </p:nvSpPr>
        <p:spPr>
          <a:xfrm>
            <a:off x="1957987" y="2431765"/>
            <a:ext cx="8276026" cy="3320031"/>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rgbClr val="262626"/>
              </a:buClr>
              <a:buSzPts val="2000"/>
              <a:buChar char="•"/>
            </a:pPr>
            <a:r>
              <a:rPr lang="en-US" sz="2000">
                <a:solidFill>
                  <a:srgbClr val="262626"/>
                </a:solidFill>
              </a:rPr>
              <a:t>There is another data type as DECIMAL which is written as DECIMAL (10,3) where 10 is called as the precision and 3 is the scale. It means we will be able to store any value with 10 digits and 3 decimals.</a:t>
            </a:r>
            <a:endParaRPr/>
          </a:p>
          <a:p>
            <a:pPr indent="-101600" lvl="0" marL="228600" rtl="0" algn="l">
              <a:lnSpc>
                <a:spcPct val="90000"/>
              </a:lnSpc>
              <a:spcBef>
                <a:spcPts val="1000"/>
              </a:spcBef>
              <a:spcAft>
                <a:spcPts val="0"/>
              </a:spcAft>
              <a:buClr>
                <a:schemeClr val="dk1"/>
              </a:buClr>
              <a:buSzPts val="2000"/>
              <a:buNone/>
            </a:pPr>
            <a:r>
              <a:t/>
            </a:r>
            <a:endParaRPr sz="2000">
              <a:solidFill>
                <a:srgbClr val="262626"/>
              </a:solidFill>
            </a:endParaRPr>
          </a:p>
          <a:p>
            <a:pPr indent="-228600" lvl="0" marL="228600" rtl="0" algn="l">
              <a:lnSpc>
                <a:spcPct val="90000"/>
              </a:lnSpc>
              <a:spcBef>
                <a:spcPts val="1000"/>
              </a:spcBef>
              <a:spcAft>
                <a:spcPts val="0"/>
              </a:spcAft>
              <a:buClr>
                <a:srgbClr val="262626"/>
              </a:buClr>
              <a:buSzPts val="2000"/>
              <a:buChar char="•"/>
            </a:pPr>
            <a:r>
              <a:rPr lang="en-US" sz="2000">
                <a:solidFill>
                  <a:srgbClr val="262626"/>
                </a:solidFill>
              </a:rPr>
              <a:t>The maximum number of digits for DECIMAL is 65, but the actual range for a given DECIMAL column can be constrained by the precision or scale of a given column.</a:t>
            </a:r>
            <a:endParaRPr/>
          </a:p>
        </p:txBody>
      </p:sp>
      <p:sp>
        <p:nvSpPr>
          <p:cNvPr id="285" name="Google Shape;285;p26"/>
          <p:cNvSpPr/>
          <p:nvPr/>
        </p:nvSpPr>
        <p:spPr>
          <a:xfrm>
            <a:off x="2224586" y="5970896"/>
            <a:ext cx="9967416" cy="887104"/>
          </a:xfrm>
          <a:custGeom>
            <a:rect b="b" l="l" r="r" t="t"/>
            <a:pathLst>
              <a:path extrusionOk="0" h="918356" w="9517857">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4901"/>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9" name="Shape 289"/>
        <p:cNvGrpSpPr/>
        <p:nvPr/>
      </p:nvGrpSpPr>
      <p:grpSpPr>
        <a:xfrm>
          <a:off x="0" y="0"/>
          <a:ext cx="0" cy="0"/>
          <a:chOff x="0" y="0"/>
          <a:chExt cx="0" cy="0"/>
        </a:xfrm>
      </p:grpSpPr>
      <p:sp>
        <p:nvSpPr>
          <p:cNvPr id="290" name="Google Shape;290;p27"/>
          <p:cNvSpPr/>
          <p:nvPr/>
        </p:nvSpPr>
        <p:spPr>
          <a:xfrm>
            <a:off x="0" y="651752"/>
            <a:ext cx="12192000" cy="736551"/>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1" name="Google Shape;291;p27"/>
          <p:cNvSpPr txBox="1"/>
          <p:nvPr>
            <p:ph type="title"/>
          </p:nvPr>
        </p:nvSpPr>
        <p:spPr>
          <a:xfrm>
            <a:off x="556532" y="643467"/>
            <a:ext cx="11210925" cy="74483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3200"/>
              <a:buFont typeface="Calibri"/>
              <a:buNone/>
            </a:pPr>
            <a:r>
              <a:rPr lang="en-US" sz="3200">
                <a:solidFill>
                  <a:schemeClr val="lt1"/>
                </a:solidFill>
                <a:latin typeface="Calibri"/>
                <a:ea typeface="Calibri"/>
                <a:cs typeface="Calibri"/>
                <a:sym typeface="Calibri"/>
              </a:rPr>
              <a:t>DATETIME, DATE and TIMESTAMP</a:t>
            </a:r>
            <a:endParaRPr/>
          </a:p>
        </p:txBody>
      </p:sp>
      <p:pic>
        <p:nvPicPr>
          <p:cNvPr id="292" name="Google Shape;292;p27"/>
          <p:cNvPicPr preferRelativeResize="0"/>
          <p:nvPr>
            <p:ph idx="1" type="body"/>
          </p:nvPr>
        </p:nvPicPr>
        <p:blipFill rotWithShape="1">
          <a:blip r:embed="rId3">
            <a:alphaModFix/>
          </a:blip>
          <a:srcRect b="0" l="0" r="0" t="0"/>
          <a:stretch/>
        </p:blipFill>
        <p:spPr>
          <a:xfrm>
            <a:off x="671063" y="1675227"/>
            <a:ext cx="10849873" cy="4394199"/>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6" name="Shape 296"/>
        <p:cNvGrpSpPr/>
        <p:nvPr/>
      </p:nvGrpSpPr>
      <p:grpSpPr>
        <a:xfrm>
          <a:off x="0" y="0"/>
          <a:ext cx="0" cy="0"/>
          <a:chOff x="0" y="0"/>
          <a:chExt cx="0" cy="0"/>
        </a:xfrm>
      </p:grpSpPr>
      <p:sp>
        <p:nvSpPr>
          <p:cNvPr id="297" name="Google Shape;297;p28"/>
          <p:cNvSpPr/>
          <p:nvPr/>
        </p:nvSpPr>
        <p:spPr>
          <a:xfrm>
            <a:off x="0" y="651752"/>
            <a:ext cx="12192000" cy="736551"/>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8" name="Google Shape;298;p28"/>
          <p:cNvSpPr txBox="1"/>
          <p:nvPr>
            <p:ph type="title"/>
          </p:nvPr>
        </p:nvSpPr>
        <p:spPr>
          <a:xfrm>
            <a:off x="556532" y="643467"/>
            <a:ext cx="11210925" cy="74483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3200"/>
              <a:buFont typeface="Calibri"/>
              <a:buNone/>
            </a:pPr>
            <a:r>
              <a:rPr lang="en-US" sz="3200">
                <a:solidFill>
                  <a:schemeClr val="lt1"/>
                </a:solidFill>
                <a:latin typeface="Calibri"/>
                <a:ea typeface="Calibri"/>
                <a:cs typeface="Calibri"/>
                <a:sym typeface="Calibri"/>
              </a:rPr>
              <a:t>TIME TYPE	</a:t>
            </a:r>
            <a:endParaRPr/>
          </a:p>
        </p:txBody>
      </p:sp>
      <p:pic>
        <p:nvPicPr>
          <p:cNvPr descr="Graphical user interface, text, application&#10;&#10;Description automatically generated" id="299" name="Google Shape;299;p28"/>
          <p:cNvPicPr preferRelativeResize="0"/>
          <p:nvPr>
            <p:ph idx="1" type="body"/>
          </p:nvPr>
        </p:nvPicPr>
        <p:blipFill rotWithShape="1">
          <a:blip r:embed="rId3">
            <a:alphaModFix/>
          </a:blip>
          <a:srcRect b="0" l="0" r="0" t="0"/>
          <a:stretch/>
        </p:blipFill>
        <p:spPr>
          <a:xfrm>
            <a:off x="643467" y="1827626"/>
            <a:ext cx="10905066" cy="40894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3" name="Shape 303"/>
        <p:cNvGrpSpPr/>
        <p:nvPr/>
      </p:nvGrpSpPr>
      <p:grpSpPr>
        <a:xfrm>
          <a:off x="0" y="0"/>
          <a:ext cx="0" cy="0"/>
          <a:chOff x="0" y="0"/>
          <a:chExt cx="0" cy="0"/>
        </a:xfrm>
      </p:grpSpPr>
      <p:sp>
        <p:nvSpPr>
          <p:cNvPr id="304" name="Google Shape;304;p29"/>
          <p:cNvSpPr/>
          <p:nvPr/>
        </p:nvSpPr>
        <p:spPr>
          <a:xfrm>
            <a:off x="0" y="651752"/>
            <a:ext cx="12192000" cy="736551"/>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5" name="Google Shape;305;p29"/>
          <p:cNvSpPr txBox="1"/>
          <p:nvPr>
            <p:ph type="title"/>
          </p:nvPr>
        </p:nvSpPr>
        <p:spPr>
          <a:xfrm>
            <a:off x="556532" y="643467"/>
            <a:ext cx="11210925" cy="74483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3200"/>
              <a:buFont typeface="Calibri"/>
              <a:buNone/>
            </a:pPr>
            <a:r>
              <a:rPr lang="en-US" sz="3200">
                <a:solidFill>
                  <a:schemeClr val="lt1"/>
                </a:solidFill>
                <a:latin typeface="Calibri"/>
                <a:ea typeface="Calibri"/>
                <a:cs typeface="Calibri"/>
                <a:sym typeface="Calibri"/>
              </a:rPr>
              <a:t>YEAR TYPE</a:t>
            </a:r>
            <a:endParaRPr/>
          </a:p>
        </p:txBody>
      </p:sp>
      <p:pic>
        <p:nvPicPr>
          <p:cNvPr descr="Graphical user interface, application&#10;&#10;Description automatically generated" id="306" name="Google Shape;306;p29"/>
          <p:cNvPicPr preferRelativeResize="0"/>
          <p:nvPr>
            <p:ph idx="1" type="body"/>
          </p:nvPr>
        </p:nvPicPr>
        <p:blipFill rotWithShape="1">
          <a:blip r:embed="rId3">
            <a:alphaModFix/>
          </a:blip>
          <a:srcRect b="0" l="0" r="0" t="0"/>
          <a:stretch/>
        </p:blipFill>
        <p:spPr>
          <a:xfrm>
            <a:off x="1293596" y="1675227"/>
            <a:ext cx="9604808" cy="4394199"/>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10" name="Shape 310"/>
        <p:cNvGrpSpPr/>
        <p:nvPr/>
      </p:nvGrpSpPr>
      <p:grpSpPr>
        <a:xfrm>
          <a:off x="0" y="0"/>
          <a:ext cx="0" cy="0"/>
          <a:chOff x="0" y="0"/>
          <a:chExt cx="0" cy="0"/>
        </a:xfrm>
      </p:grpSpPr>
      <p:sp>
        <p:nvSpPr>
          <p:cNvPr id="311" name="Google Shape;311;p30"/>
          <p:cNvSpPr/>
          <p:nvPr/>
        </p:nvSpPr>
        <p:spPr>
          <a:xfrm>
            <a:off x="0" y="0"/>
            <a:ext cx="12192000" cy="6857999"/>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Colourful thread loop set" id="312" name="Google Shape;312;p30"/>
          <p:cNvPicPr preferRelativeResize="0"/>
          <p:nvPr/>
        </p:nvPicPr>
        <p:blipFill rotWithShape="1">
          <a:blip r:embed="rId3">
            <a:alphaModFix amt="50000"/>
          </a:blip>
          <a:srcRect b="15730" l="0" r="0" t="0"/>
          <a:stretch/>
        </p:blipFill>
        <p:spPr>
          <a:xfrm>
            <a:off x="20" y="1"/>
            <a:ext cx="12191980" cy="6857999"/>
          </a:xfrm>
          <a:prstGeom prst="rect">
            <a:avLst/>
          </a:prstGeom>
          <a:noFill/>
          <a:ln>
            <a:noFill/>
          </a:ln>
        </p:spPr>
      </p:pic>
      <p:sp>
        <p:nvSpPr>
          <p:cNvPr id="313" name="Google Shape;313;p30"/>
          <p:cNvSpPr txBox="1"/>
          <p:nvPr>
            <p:ph type="title"/>
          </p:nvPr>
        </p:nvSpPr>
        <p:spPr>
          <a:xfrm>
            <a:off x="1524000" y="1122362"/>
            <a:ext cx="9144000" cy="2900518"/>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FFFFFF"/>
              </a:buClr>
              <a:buSzPts val="6000"/>
              <a:buFont typeface="Calibri"/>
              <a:buNone/>
            </a:pPr>
            <a:r>
              <a:rPr lang="en-US" sz="6000">
                <a:solidFill>
                  <a:srgbClr val="FFFFFF"/>
                </a:solidFill>
              </a:rPr>
              <a:t>STRING TYPES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CHAR and VARCHAR Types</a:t>
            </a:r>
            <a:br>
              <a:rPr lang="en-US"/>
            </a:br>
            <a:endParaRPr/>
          </a:p>
        </p:txBody>
      </p:sp>
      <p:pic>
        <p:nvPicPr>
          <p:cNvPr id="319" name="Google Shape;319;p31"/>
          <p:cNvPicPr preferRelativeResize="0"/>
          <p:nvPr>
            <p:ph idx="1" type="body"/>
          </p:nvPr>
        </p:nvPicPr>
        <p:blipFill rotWithShape="1">
          <a:blip r:embed="rId3">
            <a:alphaModFix/>
          </a:blip>
          <a:srcRect b="0" l="0" r="0" t="0"/>
          <a:stretch/>
        </p:blipFill>
        <p:spPr>
          <a:xfrm>
            <a:off x="1331105" y="1825625"/>
            <a:ext cx="9529789" cy="435133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2023-04-01T15:04:38Z</dcterms:created>
  <dc:creator>Md Arif</dc:creator>
</cp:coreProperties>
</file>