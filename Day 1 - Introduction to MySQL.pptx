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fcU7TOqQkilg3SYiukwgZo9ZD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4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8" name="Google Shape;28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0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1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2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dev.mysql.com/downloads/windows/installer/8.0.html" TargetMode="Externa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idx="4294967295" type="title"/>
          </p:nvPr>
        </p:nvSpPr>
        <p:spPr>
          <a:xfrm>
            <a:off x="1266334" y="0"/>
            <a:ext cx="10058400" cy="3565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Arial"/>
              <a:buNone/>
            </a:pPr>
            <a:r>
              <a:rPr lang="en-IN" sz="7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Introduction to MySQL</a:t>
            </a:r>
            <a:endParaRPr/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1398" y="0"/>
            <a:ext cx="1266334" cy="712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QL SVG Vector Logos - Vector Logo Zone" id="103" name="Google Shape;1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338" y="712313"/>
            <a:ext cx="2083323" cy="1426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4294967295" type="title"/>
          </p:nvPr>
        </p:nvSpPr>
        <p:spPr>
          <a:xfrm>
            <a:off x="0" y="0"/>
            <a:ext cx="6096000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Introduction to Databases</a:t>
            </a:r>
            <a:endParaRPr/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75414" y="1055802"/>
            <a:ext cx="1115191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very important to understand the database before learning MySQL.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database is an application that stores the organized collection of records. It can be accessed and manage by the user very easily.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allows us to organize data into tables, rows, columns, and indexes to find the relevant information very quickly.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database contains distinct API for performing database operations such as creating, managing, accessing, and searching the data it stores.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idx="4294967295" type="title"/>
          </p:nvPr>
        </p:nvSpPr>
        <p:spPr>
          <a:xfrm>
            <a:off x="0" y="0"/>
            <a:ext cx="6096000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What is MySQL ?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3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 txBox="1"/>
          <p:nvPr/>
        </p:nvSpPr>
        <p:spPr>
          <a:xfrm>
            <a:off x="113122" y="1069884"/>
            <a:ext cx="1115191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is one of the most popular database management system software used for managing the relational database.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open-source database software, which is supported by Oracle Company. It is fast, scalable, and easy to use database management system in comparison with Microsoft SQL Server and Oracle Database.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commonly used in conjunction with PHP scripts for creating powerful and dynamic server-side or web-based enterprise applications.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3"/>
          <p:cNvGrpSpPr/>
          <p:nvPr/>
        </p:nvGrpSpPr>
        <p:grpSpPr>
          <a:xfrm>
            <a:off x="1274189" y="3833394"/>
            <a:ext cx="9643621" cy="1954722"/>
            <a:chOff x="1197204" y="3742441"/>
            <a:chExt cx="9643621" cy="1954722"/>
          </a:xfrm>
        </p:grpSpPr>
        <p:sp>
          <p:nvSpPr>
            <p:cNvPr id="121" name="Google Shape;121;p3"/>
            <p:cNvSpPr/>
            <p:nvPr/>
          </p:nvSpPr>
          <p:spPr>
            <a:xfrm>
              <a:off x="4571999" y="3742441"/>
              <a:ext cx="2516957" cy="546755"/>
            </a:xfrm>
            <a:prstGeom prst="roundRect">
              <a:avLst>
                <a:gd fmla="val 50000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Features</a:t>
              </a:r>
              <a:endParaRPr/>
            </a:p>
          </p:txBody>
        </p:sp>
        <p:cxnSp>
          <p:nvCxnSpPr>
            <p:cNvPr id="122" name="Google Shape;122;p3"/>
            <p:cNvCxnSpPr>
              <a:stCxn id="121" idx="2"/>
            </p:cNvCxnSpPr>
            <p:nvPr/>
          </p:nvCxnSpPr>
          <p:spPr>
            <a:xfrm>
              <a:off x="5830478" y="4289196"/>
              <a:ext cx="0" cy="4431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3"/>
            <p:cNvCxnSpPr/>
            <p:nvPr/>
          </p:nvCxnSpPr>
          <p:spPr>
            <a:xfrm>
              <a:off x="1734532" y="4732256"/>
              <a:ext cx="8256308" cy="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3"/>
            <p:cNvCxnSpPr/>
            <p:nvPr/>
          </p:nvCxnSpPr>
          <p:spPr>
            <a:xfrm>
              <a:off x="1734532" y="4732256"/>
              <a:ext cx="0" cy="5561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5" name="Google Shape;125;p3"/>
            <p:cNvSpPr txBox="1"/>
            <p:nvPr/>
          </p:nvSpPr>
          <p:spPr>
            <a:xfrm>
              <a:off x="1197204" y="5327831"/>
              <a:ext cx="13574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Easy to Use</a:t>
              </a:r>
              <a:endParaRPr/>
            </a:p>
          </p:txBody>
        </p:sp>
        <p:cxnSp>
          <p:nvCxnSpPr>
            <p:cNvPr id="126" name="Google Shape;126;p3"/>
            <p:cNvCxnSpPr/>
            <p:nvPr/>
          </p:nvCxnSpPr>
          <p:spPr>
            <a:xfrm>
              <a:off x="3923906" y="4732256"/>
              <a:ext cx="0" cy="5561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7" name="Google Shape;127;p3"/>
            <p:cNvSpPr txBox="1"/>
            <p:nvPr/>
          </p:nvSpPr>
          <p:spPr>
            <a:xfrm>
              <a:off x="3348871" y="5321831"/>
              <a:ext cx="13574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Secure</a:t>
              </a:r>
              <a:endParaRPr/>
            </a:p>
          </p:txBody>
        </p:sp>
        <p:cxnSp>
          <p:nvCxnSpPr>
            <p:cNvPr id="128" name="Google Shape;128;p3"/>
            <p:cNvCxnSpPr/>
            <p:nvPr/>
          </p:nvCxnSpPr>
          <p:spPr>
            <a:xfrm>
              <a:off x="5830477" y="4732256"/>
              <a:ext cx="0" cy="5561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9" name="Google Shape;129;p3"/>
            <p:cNvSpPr txBox="1"/>
            <p:nvPr/>
          </p:nvSpPr>
          <p:spPr>
            <a:xfrm>
              <a:off x="5028413" y="5321831"/>
              <a:ext cx="17965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Open Source</a:t>
              </a:r>
              <a:endParaRPr/>
            </a:p>
          </p:txBody>
        </p:sp>
        <p:cxnSp>
          <p:nvCxnSpPr>
            <p:cNvPr id="130" name="Google Shape;130;p3"/>
            <p:cNvCxnSpPr/>
            <p:nvPr/>
          </p:nvCxnSpPr>
          <p:spPr>
            <a:xfrm>
              <a:off x="7821104" y="4732256"/>
              <a:ext cx="0" cy="5561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1" name="Google Shape;131;p3"/>
            <p:cNvSpPr txBox="1"/>
            <p:nvPr/>
          </p:nvSpPr>
          <p:spPr>
            <a:xfrm>
              <a:off x="7220932" y="5321831"/>
              <a:ext cx="14984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Scalable</a:t>
              </a:r>
              <a:endParaRPr/>
            </a:p>
          </p:txBody>
        </p:sp>
        <p:cxnSp>
          <p:nvCxnSpPr>
            <p:cNvPr id="132" name="Google Shape;132;p3"/>
            <p:cNvCxnSpPr/>
            <p:nvPr/>
          </p:nvCxnSpPr>
          <p:spPr>
            <a:xfrm>
              <a:off x="9990840" y="4732256"/>
              <a:ext cx="0" cy="5561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3" name="Google Shape;133;p3"/>
            <p:cNvSpPr txBox="1"/>
            <p:nvPr/>
          </p:nvSpPr>
          <p:spPr>
            <a:xfrm>
              <a:off x="9342358" y="5295122"/>
              <a:ext cx="14984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Reliable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idx="4294967295" type="title"/>
          </p:nvPr>
        </p:nvSpPr>
        <p:spPr>
          <a:xfrm>
            <a:off x="0" y="0"/>
            <a:ext cx="8116478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Database Management System (DBMS)</a:t>
            </a:r>
            <a:endParaRPr/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4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 txBox="1"/>
          <p:nvPr/>
        </p:nvSpPr>
        <p:spPr>
          <a:xfrm>
            <a:off x="86407" y="1122969"/>
            <a:ext cx="535442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database is a collection of data or records. Database management systems are designed to manage databases.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database management system (DBMS) is a software system that uses a standard method to store and organize data.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can be added, updated, deleted, or traversed using various standard algorithms and queries.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6401843" y="1003439"/>
            <a:ext cx="5092503" cy="4669248"/>
            <a:chOff x="6401843" y="1003439"/>
            <a:chExt cx="5092503" cy="4669248"/>
          </a:xfrm>
        </p:grpSpPr>
        <p:sp>
          <p:nvSpPr>
            <p:cNvPr id="143" name="Google Shape;143;p4"/>
            <p:cNvSpPr/>
            <p:nvPr/>
          </p:nvSpPr>
          <p:spPr>
            <a:xfrm>
              <a:off x="8474697" y="1003439"/>
              <a:ext cx="1029070" cy="92333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Types</a:t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6401844" y="2011685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Hierarchical Databases</a:t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6401844" y="2954313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Databases</a:t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6401843" y="3888061"/>
              <a:ext cx="1922023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Relational Databases</a:t>
              </a: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6401844" y="4827958"/>
              <a:ext cx="1922022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Object-Oriented Databases</a:t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9572322" y="2011685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Graph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Databases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9572319" y="2954313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 Model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Databases</a:t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9572319" y="3888061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Document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Databases</a:t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9572319" y="4853243"/>
              <a:ext cx="1922024" cy="819444"/>
            </a:xfrm>
            <a:prstGeom prst="roundRect">
              <a:avLst>
                <a:gd fmla="val 16667" name="adj"/>
              </a:avLst>
            </a:prstGeom>
            <a:solidFill>
              <a:srgbClr val="D0EE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NoSQL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Databases</a:t>
              </a:r>
              <a:endParaRPr/>
            </a:p>
          </p:txBody>
        </p:sp>
        <p:cxnSp>
          <p:nvCxnSpPr>
            <p:cNvPr id="152" name="Google Shape;152;p4"/>
            <p:cNvCxnSpPr/>
            <p:nvPr/>
          </p:nvCxnSpPr>
          <p:spPr>
            <a:xfrm>
              <a:off x="9503767" y="1465104"/>
              <a:ext cx="1259056" cy="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4"/>
            <p:cNvCxnSpPr>
              <a:endCxn id="144" idx="0"/>
            </p:cNvCxnSpPr>
            <p:nvPr/>
          </p:nvCxnSpPr>
          <p:spPr>
            <a:xfrm>
              <a:off x="7362856" y="1465085"/>
              <a:ext cx="0" cy="5466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4" name="Google Shape;154;p4"/>
            <p:cNvCxnSpPr/>
            <p:nvPr/>
          </p:nvCxnSpPr>
          <p:spPr>
            <a:xfrm>
              <a:off x="10762823" y="1465104"/>
              <a:ext cx="0" cy="546581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5" name="Google Shape;155;p4"/>
            <p:cNvCxnSpPr>
              <a:stCxn id="143" idx="2"/>
            </p:cNvCxnSpPr>
            <p:nvPr/>
          </p:nvCxnSpPr>
          <p:spPr>
            <a:xfrm rot="10800000">
              <a:off x="7362897" y="1465104"/>
              <a:ext cx="1111800" cy="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Relational Database Management System (RDBMS)</a:t>
            </a: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5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 txBox="1"/>
          <p:nvPr/>
        </p:nvSpPr>
        <p:spPr>
          <a:xfrm>
            <a:off x="169683" y="1159497"/>
            <a:ext cx="1151327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stands for Relational Database Management System.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is a program used to maintain a relational database.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is the basis for all modern database systems such as MySQL, Microsoft SQL Server, Oracle, and Microsoft Access.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uses SQL queries to access the data in the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Relational Database Management System (RDBMS)</a:t>
            </a:r>
            <a:endParaRPr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6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6"/>
          <p:cNvSpPr txBox="1"/>
          <p:nvPr/>
        </p:nvSpPr>
        <p:spPr>
          <a:xfrm>
            <a:off x="131975" y="978927"/>
            <a:ext cx="1096337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stands for Relational Database Management System and it is a program used to maintain a relational database.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RDBMS is the basis for all modern database systems such as MySQL, Microsoft SQL Server, Oracle, and Microsoft Access. It uses SQL queries to access the data in the database.</a:t>
            </a:r>
            <a:endParaRPr/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2075" y="2450597"/>
            <a:ext cx="8188751" cy="356267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6"/>
          <p:cNvSpPr/>
          <p:nvPr/>
        </p:nvSpPr>
        <p:spPr>
          <a:xfrm>
            <a:off x="2139884" y="3429000"/>
            <a:ext cx="512191" cy="2269503"/>
          </a:xfrm>
          <a:prstGeom prst="leftBrace">
            <a:avLst>
              <a:gd fmla="val 284391" name="adj1"/>
              <a:gd fmla="val 47232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5282153" y="2548588"/>
            <a:ext cx="1951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Table in Database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0" y="4296086"/>
            <a:ext cx="2168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Rows/Records/Tuples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652075" y="2948233"/>
            <a:ext cx="7044962" cy="369332"/>
          </a:xfrm>
          <a:prstGeom prst="rect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9697037" y="4296086"/>
            <a:ext cx="26112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Columns/Fields/Attributes</a:t>
            </a:r>
            <a:endParaRPr/>
          </a:p>
        </p:txBody>
      </p:sp>
      <p:cxnSp>
        <p:nvCxnSpPr>
          <p:cNvPr id="178" name="Google Shape;178;p6"/>
          <p:cNvCxnSpPr>
            <a:stCxn id="177" idx="0"/>
          </p:cNvCxnSpPr>
          <p:nvPr/>
        </p:nvCxnSpPr>
        <p:spPr>
          <a:xfrm rot="10800000">
            <a:off x="11002650" y="3132986"/>
            <a:ext cx="0" cy="1163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6"/>
          <p:cNvCxnSpPr>
            <a:endCxn id="176" idx="3"/>
          </p:cNvCxnSpPr>
          <p:nvPr/>
        </p:nvCxnSpPr>
        <p:spPr>
          <a:xfrm rot="10800000">
            <a:off x="9697037" y="3132899"/>
            <a:ext cx="13056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endParaRPr/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7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7"/>
          <p:cNvSpPr txBox="1"/>
          <p:nvPr/>
        </p:nvSpPr>
        <p:spPr>
          <a:xfrm>
            <a:off x="245098" y="1057287"/>
            <a:ext cx="1095394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is the process of organizing the data in the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is used to minimize the redundancy from a relation or set of relations. It is also used to eliminate undesirable characteristics like Insertion, Update, and Deletion Anomalies.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divides the larger table into smaller and links them using relationships.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normal form is used to reduce redundancy from the database table.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245098" y="4080825"/>
            <a:ext cx="1095394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reason for normalizing the relations is removing these anomalies.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to eliminate anomalies leads to data redundancy and can cause data integrity and other problems as the database grows.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consists of a series of guidelines that helps to guide you in creating a good database structure.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746369" y="3547455"/>
            <a:ext cx="3951401" cy="53337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 cap="flat" cmpd="sng" w="15875">
            <a:solidFill>
              <a:srgbClr val="147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do we need Normalization?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Normalisation Forms</a:t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8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" name="Google Shape;197;p8"/>
          <p:cNvGrpSpPr/>
          <p:nvPr/>
        </p:nvGrpSpPr>
        <p:grpSpPr>
          <a:xfrm>
            <a:off x="1244339" y="1006268"/>
            <a:ext cx="9596486" cy="825832"/>
            <a:chOff x="1018095" y="1244338"/>
            <a:chExt cx="9596486" cy="725864"/>
          </a:xfrm>
        </p:grpSpPr>
        <p:sp>
          <p:nvSpPr>
            <p:cNvPr id="198" name="Google Shape;198;p8"/>
            <p:cNvSpPr/>
            <p:nvPr/>
          </p:nvSpPr>
          <p:spPr>
            <a:xfrm>
              <a:off x="1018095" y="1244338"/>
              <a:ext cx="1696825" cy="725864"/>
            </a:xfrm>
            <a:prstGeom prst="round1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 NF </a:t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2714920" y="1244338"/>
              <a:ext cx="7899661" cy="725864"/>
            </a:xfrm>
            <a:prstGeom prst="round1Rect">
              <a:avLst>
                <a:gd fmla="val 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Each table cell should contain a single value.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Each record needs to be unique.</a:t>
              </a:r>
              <a:endPara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6409" y="2392218"/>
            <a:ext cx="7132938" cy="1129889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6409" y="4465782"/>
            <a:ext cx="7132938" cy="1199727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2" name="Google Shape;202;p8"/>
          <p:cNvCxnSpPr/>
          <p:nvPr/>
        </p:nvCxnSpPr>
        <p:spPr>
          <a:xfrm>
            <a:off x="6014301" y="3667027"/>
            <a:ext cx="0" cy="688157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8"/>
          <p:cNvSpPr txBox="1"/>
          <p:nvPr/>
        </p:nvSpPr>
        <p:spPr>
          <a:xfrm>
            <a:off x="6014301" y="3809278"/>
            <a:ext cx="19450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aseline="30000"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Normal form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Normalisation Forms</a:t>
            </a:r>
            <a:endParaRPr/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9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1" name="Google Shape;211;p9"/>
          <p:cNvGrpSpPr/>
          <p:nvPr/>
        </p:nvGrpSpPr>
        <p:grpSpPr>
          <a:xfrm>
            <a:off x="1244339" y="1006268"/>
            <a:ext cx="9596486" cy="825832"/>
            <a:chOff x="1018095" y="1244338"/>
            <a:chExt cx="9596486" cy="725864"/>
          </a:xfrm>
        </p:grpSpPr>
        <p:sp>
          <p:nvSpPr>
            <p:cNvPr id="212" name="Google Shape;212;p9"/>
            <p:cNvSpPr/>
            <p:nvPr/>
          </p:nvSpPr>
          <p:spPr>
            <a:xfrm>
              <a:off x="1018095" y="1244338"/>
              <a:ext cx="1696825" cy="725864"/>
            </a:xfrm>
            <a:prstGeom prst="round1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 NF </a:t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2714920" y="1244338"/>
              <a:ext cx="7899661" cy="725864"/>
            </a:xfrm>
            <a:prstGeom prst="round1Rect">
              <a:avLst>
                <a:gd fmla="val 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The table has to be in 1 NF.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Each column should be directly related to the primary key, and not to other columns.</a:t>
              </a:r>
              <a:endPara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434" y="1911175"/>
            <a:ext cx="5720497" cy="201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1164" y="4424803"/>
            <a:ext cx="6905289" cy="1823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9"/>
          <p:cNvCxnSpPr>
            <a:stCxn id="214" idx="2"/>
          </p:cNvCxnSpPr>
          <p:nvPr/>
        </p:nvCxnSpPr>
        <p:spPr>
          <a:xfrm>
            <a:off x="6265683" y="3922959"/>
            <a:ext cx="0" cy="293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/>
          <p:nvPr/>
        </p:nvCxnSpPr>
        <p:spPr>
          <a:xfrm rot="10800000">
            <a:off x="4308049" y="4216068"/>
            <a:ext cx="1957633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9"/>
          <p:cNvCxnSpPr/>
          <p:nvPr/>
        </p:nvCxnSpPr>
        <p:spPr>
          <a:xfrm rot="10800000">
            <a:off x="6265682" y="4210499"/>
            <a:ext cx="1874363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9"/>
          <p:cNvCxnSpPr/>
          <p:nvPr/>
        </p:nvCxnSpPr>
        <p:spPr>
          <a:xfrm>
            <a:off x="4308049" y="4210498"/>
            <a:ext cx="0" cy="333221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9"/>
          <p:cNvCxnSpPr/>
          <p:nvPr/>
        </p:nvCxnSpPr>
        <p:spPr>
          <a:xfrm>
            <a:off x="8140045" y="4210498"/>
            <a:ext cx="0" cy="333221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9"/>
          <p:cNvSpPr txBox="1"/>
          <p:nvPr/>
        </p:nvSpPr>
        <p:spPr>
          <a:xfrm>
            <a:off x="5411770" y="4192442"/>
            <a:ext cx="17910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IN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Normal form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Normalisation Forms</a:t>
            </a:r>
            <a:endParaRPr/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8" name="Google Shape;228;p10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9" name="Google Shape;229;p10"/>
          <p:cNvGrpSpPr/>
          <p:nvPr/>
        </p:nvGrpSpPr>
        <p:grpSpPr>
          <a:xfrm>
            <a:off x="1244339" y="1006268"/>
            <a:ext cx="9596486" cy="825832"/>
            <a:chOff x="1018095" y="1244338"/>
            <a:chExt cx="9596486" cy="725864"/>
          </a:xfrm>
        </p:grpSpPr>
        <p:sp>
          <p:nvSpPr>
            <p:cNvPr id="230" name="Google Shape;230;p10"/>
            <p:cNvSpPr/>
            <p:nvPr/>
          </p:nvSpPr>
          <p:spPr>
            <a:xfrm>
              <a:off x="1018095" y="1244338"/>
              <a:ext cx="1696825" cy="725864"/>
            </a:xfrm>
            <a:prstGeom prst="round1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 NF </a:t>
              </a: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2714920" y="1244338"/>
              <a:ext cx="7899661" cy="725864"/>
            </a:xfrm>
            <a:prstGeom prst="round1Rect">
              <a:avLst>
                <a:gd fmla="val 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Be in 2NF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Arial"/>
                <a:buChar char="•"/>
              </a:pPr>
              <a:r>
                <a:rPr lang="en-IN" sz="18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Has no transitive functional dependencies</a:t>
              </a:r>
              <a:endPara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7687" y="2285729"/>
            <a:ext cx="6356626" cy="3862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idx="4294967295" type="title"/>
          </p:nvPr>
        </p:nvSpPr>
        <p:spPr>
          <a:xfrm>
            <a:off x="-1" y="0"/>
            <a:ext cx="9747315" cy="7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IN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Software Installation</a:t>
            </a:r>
            <a:endParaRPr/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0825" y="21047"/>
            <a:ext cx="1266334" cy="709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11"/>
          <p:cNvCxnSpPr/>
          <p:nvPr/>
        </p:nvCxnSpPr>
        <p:spPr>
          <a:xfrm>
            <a:off x="0" y="709592"/>
            <a:ext cx="12192000" cy="21047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3046428" y="1026933"/>
            <a:ext cx="6099143" cy="5567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https://dev.mysql.com/downloads/windows/installer/8.0.html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1"/>
          <p:cNvGrpSpPr/>
          <p:nvPr/>
        </p:nvGrpSpPr>
        <p:grpSpPr>
          <a:xfrm>
            <a:off x="2328421" y="1960775"/>
            <a:ext cx="7484882" cy="4072379"/>
            <a:chOff x="1835084" y="1960775"/>
            <a:chExt cx="8521831" cy="4072379"/>
          </a:xfrm>
        </p:grpSpPr>
        <p:pic>
          <p:nvPicPr>
            <p:cNvPr id="242" name="Google Shape;24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35084" y="1960775"/>
              <a:ext cx="8521831" cy="4072379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3" name="Google Shape;243;p11"/>
            <p:cNvSpPr/>
            <p:nvPr/>
          </p:nvSpPr>
          <p:spPr>
            <a:xfrm>
              <a:off x="2290712" y="4496586"/>
              <a:ext cx="6438509" cy="23567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2023-03-21T05:54:42Z</dcterms:created>
  <dc:creator>Shubham Kabre</dc:creator>
</cp:coreProperties>
</file>